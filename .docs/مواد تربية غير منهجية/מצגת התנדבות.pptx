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95" r:id="rId3"/>
    <p:sldId id="293" r:id="rId4"/>
    <p:sldId id="296" r:id="rId5"/>
    <p:sldId id="297" r:id="rId6"/>
    <p:sldId id="299" r:id="rId7"/>
    <p:sldId id="294" r:id="rId8"/>
    <p:sldId id="288" r:id="rId9"/>
    <p:sldId id="289" r:id="rId10"/>
    <p:sldId id="298" r:id="rId11"/>
    <p:sldId id="300" r:id="rId12"/>
  </p:sldIdLst>
  <p:sldSz cx="9144000" cy="6858000" type="screen4x3"/>
  <p:notesSz cx="6858000" cy="9144000"/>
  <p:defaultTextStyle>
    <a:defPPr lvl="0">
      <a:defRPr lang="he-IL"/>
    </a:defPPr>
    <a:lvl1pPr lvl="0" algn="r" rtl="1" fontAlgn="base">
      <a:spcBef>
        <a:spcPct val="0"/>
      </a:spcBef>
      <a:spcAft>
        <a:spcPct val="0"/>
      </a:spcAft>
      <a:defRPr kern="1200">
        <a:solidFill>
          <a:schemeClr val="tx1"/>
        </a:solidFill>
        <a:latin typeface="Arial" pitchFamily="34" charset="0"/>
        <a:ea typeface="+mn-ea"/>
        <a:cs typeface="Arial" pitchFamily="34" charset="0"/>
      </a:defRPr>
    </a:lvl1pPr>
    <a:lvl2pPr marL="457200" lvl="1" algn="r" rtl="1" fontAlgn="base">
      <a:spcBef>
        <a:spcPct val="0"/>
      </a:spcBef>
      <a:spcAft>
        <a:spcPct val="0"/>
      </a:spcAft>
      <a:defRPr kern="1200">
        <a:solidFill>
          <a:schemeClr val="tx1"/>
        </a:solidFill>
        <a:latin typeface="Arial" pitchFamily="34" charset="0"/>
        <a:ea typeface="+mn-ea"/>
        <a:cs typeface="Arial" pitchFamily="34" charset="0"/>
      </a:defRPr>
    </a:lvl2pPr>
    <a:lvl3pPr marL="914400" lvl="2" algn="r" rtl="1" fontAlgn="base">
      <a:spcBef>
        <a:spcPct val="0"/>
      </a:spcBef>
      <a:spcAft>
        <a:spcPct val="0"/>
      </a:spcAft>
      <a:defRPr kern="1200">
        <a:solidFill>
          <a:schemeClr val="tx1"/>
        </a:solidFill>
        <a:latin typeface="Arial" pitchFamily="34" charset="0"/>
        <a:ea typeface="+mn-ea"/>
        <a:cs typeface="Arial" pitchFamily="34" charset="0"/>
      </a:defRPr>
    </a:lvl3pPr>
    <a:lvl4pPr marL="1371600" lvl="3" algn="r" rtl="1" fontAlgn="base">
      <a:spcBef>
        <a:spcPct val="0"/>
      </a:spcBef>
      <a:spcAft>
        <a:spcPct val="0"/>
      </a:spcAft>
      <a:defRPr kern="1200">
        <a:solidFill>
          <a:schemeClr val="tx1"/>
        </a:solidFill>
        <a:latin typeface="Arial" pitchFamily="34" charset="0"/>
        <a:ea typeface="+mn-ea"/>
        <a:cs typeface="Arial" pitchFamily="34" charset="0"/>
      </a:defRPr>
    </a:lvl4pPr>
    <a:lvl5pPr marL="1828800" lvl="4" algn="r" rtl="1" fontAlgn="base">
      <a:spcBef>
        <a:spcPct val="0"/>
      </a:spcBef>
      <a:spcAft>
        <a:spcPct val="0"/>
      </a:spcAft>
      <a:defRPr kern="1200">
        <a:solidFill>
          <a:schemeClr val="tx1"/>
        </a:solidFill>
        <a:latin typeface="Arial" pitchFamily="34" charset="0"/>
        <a:ea typeface="+mn-ea"/>
        <a:cs typeface="Arial" pitchFamily="34" charset="0"/>
      </a:defRPr>
    </a:lvl5pPr>
    <a:lvl6pPr marL="2286000" lvl="5" algn="r" defTabSz="914400" rtl="1" eaLnBrk="1" latinLnBrk="0" hangingPunct="1">
      <a:defRPr kern="1200">
        <a:solidFill>
          <a:schemeClr val="tx1"/>
        </a:solidFill>
        <a:latin typeface="Arial" pitchFamily="34" charset="0"/>
        <a:ea typeface="+mn-ea"/>
        <a:cs typeface="Arial" pitchFamily="34" charset="0"/>
      </a:defRPr>
    </a:lvl6pPr>
    <a:lvl7pPr marL="2743200" lvl="6" algn="r" defTabSz="914400" rtl="1" eaLnBrk="1" latinLnBrk="0" hangingPunct="1">
      <a:defRPr kern="1200">
        <a:solidFill>
          <a:schemeClr val="tx1"/>
        </a:solidFill>
        <a:latin typeface="Arial" pitchFamily="34" charset="0"/>
        <a:ea typeface="+mn-ea"/>
        <a:cs typeface="Arial" pitchFamily="34" charset="0"/>
      </a:defRPr>
    </a:lvl7pPr>
    <a:lvl8pPr marL="3200400" lvl="7" algn="r" defTabSz="914400" rtl="1" eaLnBrk="1" latinLnBrk="0" hangingPunct="1">
      <a:defRPr kern="1200">
        <a:solidFill>
          <a:schemeClr val="tx1"/>
        </a:solidFill>
        <a:latin typeface="Arial" pitchFamily="34" charset="0"/>
        <a:ea typeface="+mn-ea"/>
        <a:cs typeface="Arial" pitchFamily="34" charset="0"/>
      </a:defRPr>
    </a:lvl8pPr>
    <a:lvl9pPr marL="3657600" lvl="8" algn="r" defTabSz="914400" rtl="1"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51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pPr>
              <a:defRPr/>
            </a:pPr>
            <a:endParaRPr lang="he-IL"/>
          </a:p>
        </p:txBody>
      </p:sp>
      <p:sp>
        <p:nvSpPr>
          <p:cNvPr id="3" name="מציין מיקום של תאריך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pPr>
              <a:defRPr/>
            </a:pPr>
            <a:fld id="{5D139507-1CEF-4A75-BCC0-CEE5EAAF641B}" type="datetimeFigureOut">
              <a:rPr lang="he-IL"/>
              <a:pPr>
                <a:defRPr/>
              </a:pPr>
              <a:t>י"ט/ניסן/תשפ"ג</a:t>
            </a:fld>
            <a:endParaRPr lang="he-IL"/>
          </a:p>
        </p:txBody>
      </p:sp>
      <p:sp>
        <p:nvSpPr>
          <p:cNvPr id="4" name="מציין מיקום של תמונת שקופית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pPr lvl="0"/>
            <a:endParaRPr lang="he-IL" noProof="0"/>
          </a:p>
        </p:txBody>
      </p:sp>
      <p:sp>
        <p:nvSpPr>
          <p:cNvPr id="5" name="מציין מיקום של הערות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he-IL" noProof="0"/>
              <a:t>לחץ כדי לערוך סגנונות טקסט של תבנית בסיס</a:t>
            </a:r>
          </a:p>
          <a:p>
            <a:pPr lvl="1"/>
            <a:r>
              <a:rPr lang="he-IL" noProof="0"/>
              <a:t>רמה שנייה</a:t>
            </a:r>
          </a:p>
          <a:p>
            <a:pPr lvl="2"/>
            <a:r>
              <a:rPr lang="he-IL" noProof="0"/>
              <a:t>רמה שלישית</a:t>
            </a:r>
          </a:p>
          <a:p>
            <a:pPr lvl="3"/>
            <a:r>
              <a:rPr lang="he-IL" noProof="0"/>
              <a:t>רמה רביעית</a:t>
            </a:r>
          </a:p>
          <a:p>
            <a:pPr lvl="4"/>
            <a:r>
              <a:rPr lang="he-IL" noProof="0"/>
              <a:t>רמה חמישית</a:t>
            </a:r>
          </a:p>
        </p:txBody>
      </p:sp>
      <p:sp>
        <p:nvSpPr>
          <p:cNvPr id="6" name="מציין מיקום של כותרת תחתונה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pPr>
              <a:defRPr/>
            </a:pPr>
            <a:endParaRPr lang="he-IL"/>
          </a:p>
        </p:txBody>
      </p:sp>
      <p:sp>
        <p:nvSpPr>
          <p:cNvPr id="7" name="מציין מיקום של מספר שקופית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pPr>
              <a:defRPr/>
            </a:pPr>
            <a:fld id="{13AA5AD8-0BAD-45DB-956C-765C0EE0F2F4}" type="slidenum">
              <a:rPr lang="he-IL"/>
              <a:pPr>
                <a:defRPr/>
              </a:pPr>
              <a:t>‹#›</a:t>
            </a:fld>
            <a:endParaRPr lang="he-IL"/>
          </a:p>
        </p:txBody>
      </p:sp>
    </p:spTree>
    <p:extLst>
      <p:ext uri="{BB962C8B-B14F-4D97-AF65-F5344CB8AC3E}">
        <p14:creationId xmlns:p14="http://schemas.microsoft.com/office/powerpoint/2010/main" val="1568816130"/>
      </p:ext>
    </p:extLst>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mn-lt"/>
        <a:ea typeface="+mn-ea"/>
        <a:cs typeface="+mn-cs"/>
      </a:defRPr>
    </a:lvl1pPr>
    <a:lvl2pPr marL="457200" algn="r" rtl="1" eaLnBrk="0" fontAlgn="base" hangingPunct="0">
      <a:spcBef>
        <a:spcPct val="30000"/>
      </a:spcBef>
      <a:spcAft>
        <a:spcPct val="0"/>
      </a:spcAft>
      <a:defRPr sz="1200" kern="1200">
        <a:solidFill>
          <a:schemeClr val="tx1"/>
        </a:solidFill>
        <a:latin typeface="+mn-lt"/>
        <a:ea typeface="+mn-ea"/>
        <a:cs typeface="+mn-cs"/>
      </a:defRPr>
    </a:lvl2pPr>
    <a:lvl3pPr marL="914400" algn="r" rtl="1" eaLnBrk="0" fontAlgn="base" hangingPunct="0">
      <a:spcBef>
        <a:spcPct val="30000"/>
      </a:spcBef>
      <a:spcAft>
        <a:spcPct val="0"/>
      </a:spcAft>
      <a:defRPr sz="1200" kern="1200">
        <a:solidFill>
          <a:schemeClr val="tx1"/>
        </a:solidFill>
        <a:latin typeface="+mn-lt"/>
        <a:ea typeface="+mn-ea"/>
        <a:cs typeface="+mn-cs"/>
      </a:defRPr>
    </a:lvl3pPr>
    <a:lvl4pPr marL="1371600" algn="r" rtl="1" eaLnBrk="0" fontAlgn="base" hangingPunct="0">
      <a:spcBef>
        <a:spcPct val="30000"/>
      </a:spcBef>
      <a:spcAft>
        <a:spcPct val="0"/>
      </a:spcAft>
      <a:defRPr sz="1200" kern="1200">
        <a:solidFill>
          <a:schemeClr val="tx1"/>
        </a:solidFill>
        <a:latin typeface="+mn-lt"/>
        <a:ea typeface="+mn-ea"/>
        <a:cs typeface="+mn-cs"/>
      </a:defRPr>
    </a:lvl4pPr>
    <a:lvl5pPr marL="1828800" algn="r" rtl="1" eaLnBrk="0" fontAlgn="base" hangingPunct="0">
      <a:spcBef>
        <a:spcPct val="30000"/>
      </a:spcBef>
      <a:spcAft>
        <a:spcPct val="0"/>
      </a:spcAft>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מציין מיקום של תמונת שקופית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מציין מיקום של הערות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he-IL" altLang="he-IL"/>
          </a:p>
        </p:txBody>
      </p:sp>
      <p:sp>
        <p:nvSpPr>
          <p:cNvPr id="29700" name="מציין מיקום של מספר שקופית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cs typeface="Arial" pitchFamily="34" charset="0"/>
              </a:defRPr>
            </a:lvl1pPr>
            <a:lvl2pPr marL="742950" indent="-285750" eaLnBrk="0" hangingPunct="0">
              <a:spcBef>
                <a:spcPct val="30000"/>
              </a:spcBef>
              <a:defRPr sz="1200">
                <a:solidFill>
                  <a:schemeClr val="tx1"/>
                </a:solidFill>
                <a:latin typeface="Calibri" pitchFamily="34" charset="0"/>
                <a:cs typeface="Arial" pitchFamily="34" charset="0"/>
              </a:defRPr>
            </a:lvl2pPr>
            <a:lvl3pPr marL="1143000" indent="-228600" eaLnBrk="0" hangingPunct="0">
              <a:spcBef>
                <a:spcPct val="30000"/>
              </a:spcBef>
              <a:defRPr sz="1200">
                <a:solidFill>
                  <a:schemeClr val="tx1"/>
                </a:solidFill>
                <a:latin typeface="Calibri" pitchFamily="34" charset="0"/>
                <a:cs typeface="Arial" pitchFamily="34" charset="0"/>
              </a:defRPr>
            </a:lvl3pPr>
            <a:lvl4pPr marL="1600200" indent="-228600" eaLnBrk="0" hangingPunct="0">
              <a:spcBef>
                <a:spcPct val="30000"/>
              </a:spcBef>
              <a:defRPr sz="1200">
                <a:solidFill>
                  <a:schemeClr val="tx1"/>
                </a:solidFill>
                <a:latin typeface="Calibri" pitchFamily="34" charset="0"/>
                <a:cs typeface="Arial" pitchFamily="34" charset="0"/>
              </a:defRPr>
            </a:lvl4pPr>
            <a:lvl5pPr marL="2057400" indent="-228600" eaLnBrk="0" hangingPunct="0">
              <a:spcBef>
                <a:spcPct val="30000"/>
              </a:spcBef>
              <a:defRPr sz="1200">
                <a:solidFill>
                  <a:schemeClr val="tx1"/>
                </a:solidFill>
                <a:latin typeface="Calibri" pitchFamily="34" charset="0"/>
                <a:cs typeface="Arial" pitchFamily="34" charset="0"/>
              </a:defRPr>
            </a:lvl5pPr>
            <a:lvl6pPr marL="2514600" indent="-228600" eaLnBrk="0" fontAlgn="base" hangingPunct="0">
              <a:spcBef>
                <a:spcPct val="30000"/>
              </a:spcBef>
              <a:spcAft>
                <a:spcPct val="0"/>
              </a:spcAft>
              <a:defRPr sz="1200">
                <a:solidFill>
                  <a:schemeClr val="tx1"/>
                </a:solidFill>
                <a:latin typeface="Calibri" pitchFamily="34" charset="0"/>
                <a:cs typeface="Arial" pitchFamily="34" charset="0"/>
              </a:defRPr>
            </a:lvl6pPr>
            <a:lvl7pPr marL="2971800" indent="-228600" eaLnBrk="0" fontAlgn="base" hangingPunct="0">
              <a:spcBef>
                <a:spcPct val="30000"/>
              </a:spcBef>
              <a:spcAft>
                <a:spcPct val="0"/>
              </a:spcAft>
              <a:defRPr sz="1200">
                <a:solidFill>
                  <a:schemeClr val="tx1"/>
                </a:solidFill>
                <a:latin typeface="Calibri" pitchFamily="34" charset="0"/>
                <a:cs typeface="Arial" pitchFamily="34" charset="0"/>
              </a:defRPr>
            </a:lvl7pPr>
            <a:lvl8pPr marL="3429000" indent="-228600" eaLnBrk="0" fontAlgn="base" hangingPunct="0">
              <a:spcBef>
                <a:spcPct val="30000"/>
              </a:spcBef>
              <a:spcAft>
                <a:spcPct val="0"/>
              </a:spcAft>
              <a:defRPr sz="1200">
                <a:solidFill>
                  <a:schemeClr val="tx1"/>
                </a:solidFill>
                <a:latin typeface="Calibri" pitchFamily="34" charset="0"/>
                <a:cs typeface="Arial" pitchFamily="34" charset="0"/>
              </a:defRPr>
            </a:lvl8pPr>
            <a:lvl9pPr marL="3886200" indent="-228600" eaLnBrk="0" fontAlgn="base" hangingPunct="0">
              <a:spcBef>
                <a:spcPct val="30000"/>
              </a:spcBef>
              <a:spcAft>
                <a:spcPct val="0"/>
              </a:spcAft>
              <a:defRPr sz="1200">
                <a:solidFill>
                  <a:schemeClr val="tx1"/>
                </a:solidFill>
                <a:latin typeface="Calibri" pitchFamily="34" charset="0"/>
                <a:cs typeface="Arial" pitchFamily="34" charset="0"/>
              </a:defRPr>
            </a:lvl9pPr>
          </a:lstStyle>
          <a:p>
            <a:pPr eaLnBrk="1" hangingPunct="1">
              <a:spcBef>
                <a:spcPct val="0"/>
              </a:spcBef>
            </a:pPr>
            <a:fld id="{ED131A8A-88CA-495E-B900-59E00388DF46}" type="slidenum">
              <a:rPr lang="he-IL" altLang="he-IL" smtClean="0">
                <a:latin typeface="Arial" pitchFamily="34" charset="0"/>
              </a:rPr>
              <a:pPr eaLnBrk="1" hangingPunct="1">
                <a:spcBef>
                  <a:spcPct val="0"/>
                </a:spcBef>
              </a:pPr>
              <a:t>1</a:t>
            </a:fld>
            <a:endParaRPr lang="he-IL" altLang="he-IL">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lvl1pPr>
              <a:defRPr/>
            </a:lvl1pPr>
          </a:lstStyle>
          <a:p>
            <a:pPr>
              <a:defRPr/>
            </a:pPr>
            <a:fld id="{91DFB456-D5C1-4292-99B2-B3E74230D61C}" type="datetimeFigureOut">
              <a:rPr lang="he-IL"/>
              <a:pPr>
                <a:defRPr/>
              </a:pPr>
              <a:t>י"ט/ניסן/תשפ"ג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5C19EBE7-E471-4583-9732-D891BFFFDAAD}" type="slidenum">
              <a:rPr lang="he-IL"/>
              <a:pPr>
                <a:defRPr/>
              </a:pPr>
              <a:t>‹#›</a:t>
            </a:fld>
            <a:endParaRPr lang="he-IL" dirty="0"/>
          </a:p>
        </p:txBody>
      </p:sp>
    </p:spTree>
    <p:extLst>
      <p:ext uri="{BB962C8B-B14F-4D97-AF65-F5344CB8AC3E}">
        <p14:creationId xmlns:p14="http://schemas.microsoft.com/office/powerpoint/2010/main" val="2367100636"/>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lvl1pPr>
              <a:defRPr/>
            </a:lvl1pPr>
          </a:lstStyle>
          <a:p>
            <a:pPr>
              <a:defRPr/>
            </a:pPr>
            <a:fld id="{9577437F-6143-4FA7-97FB-DFFC98EFEC66}" type="datetimeFigureOut">
              <a:rPr lang="he-IL"/>
              <a:pPr>
                <a:defRPr/>
              </a:pPr>
              <a:t>י"ט/ניסן/תשפ"ג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C85DF866-9A41-4C6C-9253-0F7A2F723178}" type="slidenum">
              <a:rPr lang="he-IL"/>
              <a:pPr>
                <a:defRPr/>
              </a:pPr>
              <a:t>‹#›</a:t>
            </a:fld>
            <a:endParaRPr lang="he-IL" dirty="0"/>
          </a:p>
        </p:txBody>
      </p:sp>
    </p:spTree>
    <p:extLst>
      <p:ext uri="{BB962C8B-B14F-4D97-AF65-F5344CB8AC3E}">
        <p14:creationId xmlns:p14="http://schemas.microsoft.com/office/powerpoint/2010/main" val="37083746"/>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lvl1pPr>
              <a:defRPr/>
            </a:lvl1pPr>
          </a:lstStyle>
          <a:p>
            <a:pPr>
              <a:defRPr/>
            </a:pPr>
            <a:fld id="{0B592108-6975-42A6-BA79-05322EA8F312}" type="datetimeFigureOut">
              <a:rPr lang="he-IL"/>
              <a:pPr>
                <a:defRPr/>
              </a:pPr>
              <a:t>י"ט/ניסן/תשפ"ג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6C4BE15A-6604-4DFC-98FB-F06C02E0FE27}" type="slidenum">
              <a:rPr lang="he-IL"/>
              <a:pPr>
                <a:defRPr/>
              </a:pPr>
              <a:t>‹#›</a:t>
            </a:fld>
            <a:endParaRPr lang="he-IL" dirty="0"/>
          </a:p>
        </p:txBody>
      </p:sp>
    </p:spTree>
    <p:extLst>
      <p:ext uri="{BB962C8B-B14F-4D97-AF65-F5344CB8AC3E}">
        <p14:creationId xmlns:p14="http://schemas.microsoft.com/office/powerpoint/2010/main" val="974893185"/>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3"/>
          <p:cNvSpPr>
            <a:spLocks noGrp="1"/>
          </p:cNvSpPr>
          <p:nvPr>
            <p:ph type="dt" sz="half" idx="10"/>
          </p:nvPr>
        </p:nvSpPr>
        <p:spPr/>
        <p:txBody>
          <a:bodyPr/>
          <a:lstStyle>
            <a:lvl1pPr>
              <a:defRPr/>
            </a:lvl1pPr>
          </a:lstStyle>
          <a:p>
            <a:pPr>
              <a:defRPr/>
            </a:pPr>
            <a:fld id="{0D3DB552-FE69-492E-9026-74E1A8D9591B}" type="datetimeFigureOut">
              <a:rPr lang="he-IL"/>
              <a:pPr>
                <a:defRPr/>
              </a:pPr>
              <a:t>י"ט/ניסן/תשפ"ג</a:t>
            </a:fld>
            <a:endParaRPr lang="he-IL" dirty="0"/>
          </a:p>
        </p:txBody>
      </p:sp>
      <p:sp>
        <p:nvSpPr>
          <p:cNvPr id="6"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7" name="מציין מיקום של מספר שקופית 5"/>
          <p:cNvSpPr>
            <a:spLocks noGrp="1"/>
          </p:cNvSpPr>
          <p:nvPr>
            <p:ph type="sldNum" sz="quarter" idx="12"/>
          </p:nvPr>
        </p:nvSpPr>
        <p:spPr/>
        <p:txBody>
          <a:bodyPr/>
          <a:lstStyle>
            <a:lvl1pPr>
              <a:defRPr/>
            </a:lvl1pPr>
          </a:lstStyle>
          <a:p>
            <a:pPr>
              <a:defRPr/>
            </a:pPr>
            <a:fld id="{F0AE2233-9831-464B-99EB-556678D2C938}" type="slidenum">
              <a:rPr lang="he-IL"/>
              <a:pPr>
                <a:defRPr/>
              </a:pPr>
              <a:t>‹#›</a:t>
            </a:fld>
            <a:endParaRPr lang="he-IL" dirty="0"/>
          </a:p>
        </p:txBody>
      </p:sp>
    </p:spTree>
    <p:extLst>
      <p:ext uri="{BB962C8B-B14F-4D97-AF65-F5344CB8AC3E}">
        <p14:creationId xmlns:p14="http://schemas.microsoft.com/office/powerpoint/2010/main" val="1728058908"/>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3"/>
          <p:cNvSpPr>
            <a:spLocks noGrp="1"/>
          </p:cNvSpPr>
          <p:nvPr>
            <p:ph type="dt" sz="half" idx="10"/>
          </p:nvPr>
        </p:nvSpPr>
        <p:spPr/>
        <p:txBody>
          <a:bodyPr/>
          <a:lstStyle>
            <a:lvl1pPr>
              <a:defRPr/>
            </a:lvl1pPr>
          </a:lstStyle>
          <a:p>
            <a:pPr>
              <a:defRPr/>
            </a:pPr>
            <a:fld id="{8CA5E380-73CF-44D8-93A8-63DB3B647C92}" type="datetimeFigureOut">
              <a:rPr lang="he-IL"/>
              <a:pPr>
                <a:defRPr/>
              </a:pPr>
              <a:t>י"ט/ניסן/תשפ"ג</a:t>
            </a:fld>
            <a:endParaRPr lang="he-IL" dirty="0"/>
          </a:p>
        </p:txBody>
      </p:sp>
      <p:sp>
        <p:nvSpPr>
          <p:cNvPr id="8"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9" name="מציין מיקום של מספר שקופית 5"/>
          <p:cNvSpPr>
            <a:spLocks noGrp="1"/>
          </p:cNvSpPr>
          <p:nvPr>
            <p:ph type="sldNum" sz="quarter" idx="12"/>
          </p:nvPr>
        </p:nvSpPr>
        <p:spPr/>
        <p:txBody>
          <a:bodyPr/>
          <a:lstStyle>
            <a:lvl1pPr>
              <a:defRPr/>
            </a:lvl1pPr>
          </a:lstStyle>
          <a:p>
            <a:pPr>
              <a:defRPr/>
            </a:pPr>
            <a:fld id="{DB5D27C5-071A-4EAE-AAAA-814A62BC7FDB}" type="slidenum">
              <a:rPr lang="he-IL"/>
              <a:pPr>
                <a:defRPr/>
              </a:pPr>
              <a:t>‹#›</a:t>
            </a:fld>
            <a:endParaRPr lang="he-IL" dirty="0"/>
          </a:p>
        </p:txBody>
      </p:sp>
    </p:spTree>
    <p:extLst>
      <p:ext uri="{BB962C8B-B14F-4D97-AF65-F5344CB8AC3E}">
        <p14:creationId xmlns:p14="http://schemas.microsoft.com/office/powerpoint/2010/main" val="1286833200"/>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3"/>
          <p:cNvSpPr>
            <a:spLocks noGrp="1"/>
          </p:cNvSpPr>
          <p:nvPr>
            <p:ph type="dt" sz="half" idx="10"/>
          </p:nvPr>
        </p:nvSpPr>
        <p:spPr/>
        <p:txBody>
          <a:bodyPr/>
          <a:lstStyle>
            <a:lvl1pPr>
              <a:defRPr/>
            </a:lvl1pPr>
          </a:lstStyle>
          <a:p>
            <a:pPr>
              <a:defRPr/>
            </a:pPr>
            <a:fld id="{5FE44D4D-C785-4C35-8243-6C2B6608B909}" type="datetimeFigureOut">
              <a:rPr lang="he-IL"/>
              <a:pPr>
                <a:defRPr/>
              </a:pPr>
              <a:t>י"ט/ניסן/תשפ"ג</a:t>
            </a:fld>
            <a:endParaRPr lang="he-IL" dirty="0"/>
          </a:p>
        </p:txBody>
      </p:sp>
      <p:sp>
        <p:nvSpPr>
          <p:cNvPr id="4"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5" name="מציין מיקום של מספר שקופית 5"/>
          <p:cNvSpPr>
            <a:spLocks noGrp="1"/>
          </p:cNvSpPr>
          <p:nvPr>
            <p:ph type="sldNum" sz="quarter" idx="12"/>
          </p:nvPr>
        </p:nvSpPr>
        <p:spPr/>
        <p:txBody>
          <a:bodyPr/>
          <a:lstStyle>
            <a:lvl1pPr>
              <a:defRPr/>
            </a:lvl1pPr>
          </a:lstStyle>
          <a:p>
            <a:pPr>
              <a:defRPr/>
            </a:pPr>
            <a:fld id="{EC87E333-5DDA-47D1-8A1E-0F975B0E9FD9}" type="slidenum">
              <a:rPr lang="he-IL"/>
              <a:pPr>
                <a:defRPr/>
              </a:pPr>
              <a:t>‹#›</a:t>
            </a:fld>
            <a:endParaRPr lang="he-IL" dirty="0"/>
          </a:p>
        </p:txBody>
      </p:sp>
    </p:spTree>
    <p:extLst>
      <p:ext uri="{BB962C8B-B14F-4D97-AF65-F5344CB8AC3E}">
        <p14:creationId xmlns:p14="http://schemas.microsoft.com/office/powerpoint/2010/main" val="481419299"/>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3"/>
          <p:cNvSpPr>
            <a:spLocks noGrp="1"/>
          </p:cNvSpPr>
          <p:nvPr>
            <p:ph type="dt" sz="half" idx="10"/>
          </p:nvPr>
        </p:nvSpPr>
        <p:spPr/>
        <p:txBody>
          <a:bodyPr/>
          <a:lstStyle>
            <a:lvl1pPr>
              <a:defRPr/>
            </a:lvl1pPr>
          </a:lstStyle>
          <a:p>
            <a:pPr>
              <a:defRPr/>
            </a:pPr>
            <a:fld id="{5BA11F40-7251-4377-9B8F-A9C8A52701E6}" type="datetimeFigureOut">
              <a:rPr lang="he-IL"/>
              <a:pPr>
                <a:defRPr/>
              </a:pPr>
              <a:t>י"ט/ניסן/תשפ"ג</a:t>
            </a:fld>
            <a:endParaRPr lang="he-IL" dirty="0"/>
          </a:p>
        </p:txBody>
      </p:sp>
      <p:sp>
        <p:nvSpPr>
          <p:cNvPr id="3"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4" name="מציין מיקום של מספר שקופית 5"/>
          <p:cNvSpPr>
            <a:spLocks noGrp="1"/>
          </p:cNvSpPr>
          <p:nvPr>
            <p:ph type="sldNum" sz="quarter" idx="12"/>
          </p:nvPr>
        </p:nvSpPr>
        <p:spPr/>
        <p:txBody>
          <a:bodyPr/>
          <a:lstStyle>
            <a:lvl1pPr>
              <a:defRPr/>
            </a:lvl1pPr>
          </a:lstStyle>
          <a:p>
            <a:pPr>
              <a:defRPr/>
            </a:pPr>
            <a:fld id="{E824DEA7-DC4F-4464-92E7-40C3780BD07A}" type="slidenum">
              <a:rPr lang="he-IL"/>
              <a:pPr>
                <a:defRPr/>
              </a:pPr>
              <a:t>‹#›</a:t>
            </a:fld>
            <a:endParaRPr lang="he-IL" dirty="0"/>
          </a:p>
        </p:txBody>
      </p:sp>
    </p:spTree>
    <p:extLst>
      <p:ext uri="{BB962C8B-B14F-4D97-AF65-F5344CB8AC3E}">
        <p14:creationId xmlns:p14="http://schemas.microsoft.com/office/powerpoint/2010/main" val="2684868982"/>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3"/>
          <p:cNvSpPr>
            <a:spLocks noGrp="1"/>
          </p:cNvSpPr>
          <p:nvPr>
            <p:ph type="dt" sz="half" idx="10"/>
          </p:nvPr>
        </p:nvSpPr>
        <p:spPr/>
        <p:txBody>
          <a:bodyPr/>
          <a:lstStyle>
            <a:lvl1pPr>
              <a:defRPr/>
            </a:lvl1pPr>
          </a:lstStyle>
          <a:p>
            <a:pPr>
              <a:defRPr/>
            </a:pPr>
            <a:fld id="{3C137CD1-96CC-4861-9C57-6A20A36CC6A9}" type="datetimeFigureOut">
              <a:rPr lang="he-IL"/>
              <a:pPr>
                <a:defRPr/>
              </a:pPr>
              <a:t>י"ט/ניסן/תשפ"ג</a:t>
            </a:fld>
            <a:endParaRPr lang="he-IL" dirty="0"/>
          </a:p>
        </p:txBody>
      </p:sp>
      <p:sp>
        <p:nvSpPr>
          <p:cNvPr id="6"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7" name="מציין מיקום של מספר שקופית 5"/>
          <p:cNvSpPr>
            <a:spLocks noGrp="1"/>
          </p:cNvSpPr>
          <p:nvPr>
            <p:ph type="sldNum" sz="quarter" idx="12"/>
          </p:nvPr>
        </p:nvSpPr>
        <p:spPr/>
        <p:txBody>
          <a:bodyPr/>
          <a:lstStyle>
            <a:lvl1pPr>
              <a:defRPr/>
            </a:lvl1pPr>
          </a:lstStyle>
          <a:p>
            <a:pPr>
              <a:defRPr/>
            </a:pPr>
            <a:fld id="{F457FDFD-396B-4DCA-96A3-FD03BC19CF6C}" type="slidenum">
              <a:rPr lang="he-IL"/>
              <a:pPr>
                <a:defRPr/>
              </a:pPr>
              <a:t>‹#›</a:t>
            </a:fld>
            <a:endParaRPr lang="he-IL" dirty="0"/>
          </a:p>
        </p:txBody>
      </p:sp>
    </p:spTree>
    <p:extLst>
      <p:ext uri="{BB962C8B-B14F-4D97-AF65-F5344CB8AC3E}">
        <p14:creationId xmlns:p14="http://schemas.microsoft.com/office/powerpoint/2010/main" val="1305178461"/>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rtlCol="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he-IL" noProof="0"/>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3"/>
          <p:cNvSpPr>
            <a:spLocks noGrp="1"/>
          </p:cNvSpPr>
          <p:nvPr>
            <p:ph type="dt" sz="half" idx="10"/>
          </p:nvPr>
        </p:nvSpPr>
        <p:spPr/>
        <p:txBody>
          <a:bodyPr/>
          <a:lstStyle>
            <a:lvl1pPr>
              <a:defRPr/>
            </a:lvl1pPr>
          </a:lstStyle>
          <a:p>
            <a:pPr>
              <a:defRPr/>
            </a:pPr>
            <a:fld id="{085E91D6-D893-4B5D-9649-BF89D9BB138D}" type="datetimeFigureOut">
              <a:rPr lang="he-IL"/>
              <a:pPr>
                <a:defRPr/>
              </a:pPr>
              <a:t>י"ט/ניסן/תשפ"ג</a:t>
            </a:fld>
            <a:endParaRPr lang="he-IL" dirty="0"/>
          </a:p>
        </p:txBody>
      </p:sp>
      <p:sp>
        <p:nvSpPr>
          <p:cNvPr id="6"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7" name="מציין מיקום של מספר שקופית 5"/>
          <p:cNvSpPr>
            <a:spLocks noGrp="1"/>
          </p:cNvSpPr>
          <p:nvPr>
            <p:ph type="sldNum" sz="quarter" idx="12"/>
          </p:nvPr>
        </p:nvSpPr>
        <p:spPr/>
        <p:txBody>
          <a:bodyPr/>
          <a:lstStyle>
            <a:lvl1pPr>
              <a:defRPr/>
            </a:lvl1pPr>
          </a:lstStyle>
          <a:p>
            <a:pPr>
              <a:defRPr/>
            </a:pPr>
            <a:fld id="{1025F032-A3EA-455E-858D-D1D519F0B1E9}" type="slidenum">
              <a:rPr lang="he-IL"/>
              <a:pPr>
                <a:defRPr/>
              </a:pPr>
              <a:t>‹#›</a:t>
            </a:fld>
            <a:endParaRPr lang="he-IL" dirty="0"/>
          </a:p>
        </p:txBody>
      </p:sp>
    </p:spTree>
    <p:extLst>
      <p:ext uri="{BB962C8B-B14F-4D97-AF65-F5344CB8AC3E}">
        <p14:creationId xmlns:p14="http://schemas.microsoft.com/office/powerpoint/2010/main" val="249744294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lvl1pPr>
              <a:defRPr/>
            </a:lvl1pPr>
          </a:lstStyle>
          <a:p>
            <a:pPr>
              <a:defRPr/>
            </a:pPr>
            <a:fld id="{5860C8AF-665F-461D-ABCE-913E0D5D8CB5}" type="datetimeFigureOut">
              <a:rPr lang="he-IL"/>
              <a:pPr>
                <a:defRPr/>
              </a:pPr>
              <a:t>י"ט/ניסן/תשפ"ג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0DD15F77-9076-428C-B827-E4B0F0C991B2}" type="slidenum">
              <a:rPr lang="he-IL"/>
              <a:pPr>
                <a:defRPr/>
              </a:pPr>
              <a:t>‹#›</a:t>
            </a:fld>
            <a:endParaRPr lang="he-IL" dirty="0"/>
          </a:p>
        </p:txBody>
      </p:sp>
    </p:spTree>
    <p:extLst>
      <p:ext uri="{BB962C8B-B14F-4D97-AF65-F5344CB8AC3E}">
        <p14:creationId xmlns:p14="http://schemas.microsoft.com/office/powerpoint/2010/main" val="4001088080"/>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lvl1pPr>
              <a:defRPr/>
            </a:lvl1pPr>
          </a:lstStyle>
          <a:p>
            <a:pPr>
              <a:defRPr/>
            </a:pPr>
            <a:fld id="{13E13E14-473D-4C58-9D4D-57BBE52A5DB0}" type="datetimeFigureOut">
              <a:rPr lang="he-IL"/>
              <a:pPr>
                <a:defRPr/>
              </a:pPr>
              <a:t>י"ט/ניסן/תשפ"ג</a:t>
            </a:fld>
            <a:endParaRPr lang="he-IL" dirty="0"/>
          </a:p>
        </p:txBody>
      </p:sp>
      <p:sp>
        <p:nvSpPr>
          <p:cNvPr id="5" name="מציין מיקום של כותרת תחתונה 4"/>
          <p:cNvSpPr>
            <a:spLocks noGrp="1"/>
          </p:cNvSpPr>
          <p:nvPr>
            <p:ph type="ftr" sz="quarter" idx="11"/>
          </p:nvPr>
        </p:nvSpPr>
        <p:spPr/>
        <p:txBody>
          <a:bodyPr/>
          <a:lstStyle>
            <a:lvl1pPr>
              <a:defRPr/>
            </a:lvl1pPr>
          </a:lstStyle>
          <a:p>
            <a:pPr>
              <a:defRPr/>
            </a:pPr>
            <a:endParaRPr lang="he-IL"/>
          </a:p>
        </p:txBody>
      </p:sp>
      <p:sp>
        <p:nvSpPr>
          <p:cNvPr id="6" name="מציין מיקום של מספר שקופית 5"/>
          <p:cNvSpPr>
            <a:spLocks noGrp="1"/>
          </p:cNvSpPr>
          <p:nvPr>
            <p:ph type="sldNum" sz="quarter" idx="12"/>
          </p:nvPr>
        </p:nvSpPr>
        <p:spPr/>
        <p:txBody>
          <a:bodyPr/>
          <a:lstStyle>
            <a:lvl1pPr>
              <a:defRPr/>
            </a:lvl1pPr>
          </a:lstStyle>
          <a:p>
            <a:pPr>
              <a:defRPr/>
            </a:pPr>
            <a:fld id="{EF2D3074-FCEA-4A95-80F4-641FB84D2FB5}" type="slidenum">
              <a:rPr lang="he-IL"/>
              <a:pPr>
                <a:defRPr/>
              </a:pPr>
              <a:t>‹#›</a:t>
            </a:fld>
            <a:endParaRPr lang="he-IL" dirty="0"/>
          </a:p>
        </p:txBody>
      </p:sp>
    </p:spTree>
    <p:extLst>
      <p:ext uri="{BB962C8B-B14F-4D97-AF65-F5344CB8AC3E}">
        <p14:creationId xmlns:p14="http://schemas.microsoft.com/office/powerpoint/2010/main" val="155799005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CEBE4"/>
        </a:solidFill>
        <a:effectLst/>
      </p:bgPr>
    </p:bg>
    <p:spTree>
      <p:nvGrpSpPr>
        <p:cNvPr id="1" name=""/>
        <p:cNvGrpSpPr/>
        <p:nvPr/>
      </p:nvGrpSpPr>
      <p:grpSpPr>
        <a:xfrm>
          <a:off x="0" y="0"/>
          <a:ext cx="0" cy="0"/>
          <a:chOff x="0" y="0"/>
          <a:chExt cx="0" cy="0"/>
        </a:xfrm>
      </p:grpSpPr>
      <p:sp>
        <p:nvSpPr>
          <p:cNvPr id="1026" name="מציין מיקום של כותרת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he-IL" altLang="he-IL"/>
              <a:t>לחץ כדי לערוך סגנון כותרת של תבנית בסיס</a:t>
            </a:r>
          </a:p>
        </p:txBody>
      </p:sp>
      <p:sp>
        <p:nvSpPr>
          <p:cNvPr id="1027" name="מציין מיקום טקסט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he-IL" altLang="he-IL"/>
              <a:t>לחץ כדי לערוך סגנונות טקסט של תבנית בסיס</a:t>
            </a:r>
          </a:p>
          <a:p>
            <a:pPr lvl="1"/>
            <a:r>
              <a:rPr lang="he-IL" altLang="he-IL"/>
              <a:t>רמה שנייה</a:t>
            </a:r>
          </a:p>
          <a:p>
            <a:pPr lvl="2"/>
            <a:r>
              <a:rPr lang="he-IL" altLang="he-IL"/>
              <a:t>רמה שלישית</a:t>
            </a:r>
          </a:p>
          <a:p>
            <a:pPr lvl="3"/>
            <a:r>
              <a:rPr lang="he-IL" altLang="he-IL"/>
              <a:t>רמה רביעית</a:t>
            </a:r>
          </a:p>
          <a:p>
            <a:pPr lvl="4"/>
            <a:r>
              <a:rPr lang="he-IL" altLang="he-IL"/>
              <a:t>רמה חמישית</a:t>
            </a:r>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prstClr val="black">
                    <a:tint val="75000"/>
                  </a:prstClr>
                </a:solidFill>
              </a:defRPr>
            </a:lvl1pPr>
          </a:lstStyle>
          <a:p>
            <a:pPr>
              <a:defRPr/>
            </a:pPr>
            <a:fld id="{21DA7E0E-3129-4C09-82A6-4D658440A20D}" type="datetimeFigureOut">
              <a:rPr lang="he-IL"/>
              <a:pPr>
                <a:defRPr/>
              </a:pPr>
              <a:t>י"ט/ניסן/תשפ"ג</a:t>
            </a:fld>
            <a:endParaRPr lang="he-IL" dirty="0"/>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prstClr val="black">
                    <a:tint val="75000"/>
                  </a:prstClr>
                </a:solidFill>
              </a:defRPr>
            </a:lvl1pPr>
          </a:lstStyle>
          <a:p>
            <a:pPr>
              <a:defRPr/>
            </a:pPr>
            <a:endParaRPr lang="he-IL"/>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prstClr val="black">
                    <a:tint val="75000"/>
                  </a:prstClr>
                </a:solidFill>
              </a:defRPr>
            </a:lvl1pPr>
          </a:lstStyle>
          <a:p>
            <a:pPr>
              <a:defRPr/>
            </a:pPr>
            <a:fld id="{36C49491-FDA1-43B4-9754-1CF36A78B4A2}" type="slidenum">
              <a:rPr lang="he-IL"/>
              <a:pPr>
                <a:defRPr/>
              </a:pPr>
              <a:t>‹#›</a:t>
            </a:fld>
            <a:endParaRPr lang="he-IL" dirty="0"/>
          </a:p>
        </p:txBody>
      </p:sp>
    </p:spTree>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ransition spd="med">
    <p:fade/>
  </p:transition>
  <p:txStyles>
    <p:titleStyle>
      <a:lvl1pPr algn="ctr" rtl="1" eaLnBrk="0" fontAlgn="base" hangingPunct="0">
        <a:spcBef>
          <a:spcPct val="0"/>
        </a:spcBef>
        <a:spcAft>
          <a:spcPct val="0"/>
        </a:spcAft>
        <a:defRPr sz="4400" kern="1200">
          <a:solidFill>
            <a:schemeClr val="tx1"/>
          </a:solidFill>
          <a:latin typeface="+mj-lt"/>
          <a:ea typeface="+mj-ea"/>
          <a:cs typeface="+mj-cs"/>
        </a:defRPr>
      </a:lvl1pPr>
      <a:lvl2pPr algn="ctr" rtl="1" eaLnBrk="0" fontAlgn="base" hangingPunct="0">
        <a:spcBef>
          <a:spcPct val="0"/>
        </a:spcBef>
        <a:spcAft>
          <a:spcPct val="0"/>
        </a:spcAft>
        <a:defRPr sz="4400">
          <a:solidFill>
            <a:schemeClr val="tx1"/>
          </a:solidFill>
          <a:latin typeface="Calibri" pitchFamily="34" charset="0"/>
          <a:cs typeface="Times New Roman" pitchFamily="18" charset="0"/>
        </a:defRPr>
      </a:lvl2pPr>
      <a:lvl3pPr algn="ctr" rtl="1" eaLnBrk="0" fontAlgn="base" hangingPunct="0">
        <a:spcBef>
          <a:spcPct val="0"/>
        </a:spcBef>
        <a:spcAft>
          <a:spcPct val="0"/>
        </a:spcAft>
        <a:defRPr sz="4400">
          <a:solidFill>
            <a:schemeClr val="tx1"/>
          </a:solidFill>
          <a:latin typeface="Calibri" pitchFamily="34" charset="0"/>
          <a:cs typeface="Times New Roman" pitchFamily="18" charset="0"/>
        </a:defRPr>
      </a:lvl3pPr>
      <a:lvl4pPr algn="ctr" rtl="1" eaLnBrk="0" fontAlgn="base" hangingPunct="0">
        <a:spcBef>
          <a:spcPct val="0"/>
        </a:spcBef>
        <a:spcAft>
          <a:spcPct val="0"/>
        </a:spcAft>
        <a:defRPr sz="4400">
          <a:solidFill>
            <a:schemeClr val="tx1"/>
          </a:solidFill>
          <a:latin typeface="Calibri" pitchFamily="34" charset="0"/>
          <a:cs typeface="Times New Roman" pitchFamily="18" charset="0"/>
        </a:defRPr>
      </a:lvl4pPr>
      <a:lvl5pPr algn="ctr" rtl="1" eaLnBrk="0" fontAlgn="base" hangingPunct="0">
        <a:spcBef>
          <a:spcPct val="0"/>
        </a:spcBef>
        <a:spcAft>
          <a:spcPct val="0"/>
        </a:spcAft>
        <a:defRPr sz="4400">
          <a:solidFill>
            <a:schemeClr val="tx1"/>
          </a:solidFill>
          <a:latin typeface="Calibri" pitchFamily="34" charset="0"/>
          <a:cs typeface="Times New Roman" pitchFamily="18" charset="0"/>
        </a:defRPr>
      </a:lvl5pPr>
      <a:lvl6pPr marL="457200" algn="ctr" rtl="1" fontAlgn="base">
        <a:spcBef>
          <a:spcPct val="0"/>
        </a:spcBef>
        <a:spcAft>
          <a:spcPct val="0"/>
        </a:spcAft>
        <a:defRPr sz="4400">
          <a:solidFill>
            <a:schemeClr val="tx1"/>
          </a:solidFill>
          <a:latin typeface="Calibri" pitchFamily="34" charset="0"/>
          <a:cs typeface="Times New Roman" pitchFamily="18" charset="0"/>
        </a:defRPr>
      </a:lvl6pPr>
      <a:lvl7pPr marL="914400" algn="ctr" rtl="1" fontAlgn="base">
        <a:spcBef>
          <a:spcPct val="0"/>
        </a:spcBef>
        <a:spcAft>
          <a:spcPct val="0"/>
        </a:spcAft>
        <a:defRPr sz="4400">
          <a:solidFill>
            <a:schemeClr val="tx1"/>
          </a:solidFill>
          <a:latin typeface="Calibri" pitchFamily="34" charset="0"/>
          <a:cs typeface="Times New Roman" pitchFamily="18" charset="0"/>
        </a:defRPr>
      </a:lvl7pPr>
      <a:lvl8pPr marL="1371600" algn="ctr" rtl="1" fontAlgn="base">
        <a:spcBef>
          <a:spcPct val="0"/>
        </a:spcBef>
        <a:spcAft>
          <a:spcPct val="0"/>
        </a:spcAft>
        <a:defRPr sz="4400">
          <a:solidFill>
            <a:schemeClr val="tx1"/>
          </a:solidFill>
          <a:latin typeface="Calibri" pitchFamily="34" charset="0"/>
          <a:cs typeface="Times New Roman" pitchFamily="18" charset="0"/>
        </a:defRPr>
      </a:lvl8pPr>
      <a:lvl9pPr marL="1828800" algn="ctr" rtl="1" fontAlgn="base">
        <a:spcBef>
          <a:spcPct val="0"/>
        </a:spcBef>
        <a:spcAft>
          <a:spcPct val="0"/>
        </a:spcAft>
        <a:defRPr sz="4400">
          <a:solidFill>
            <a:schemeClr val="tx1"/>
          </a:solidFill>
          <a:latin typeface="Calibri" pitchFamily="34" charset="0"/>
          <a:cs typeface="Times New Roman" pitchFamily="18" charset="0"/>
        </a:defRPr>
      </a:lvl9pPr>
    </p:titleStyle>
    <p:bodyStyle>
      <a:lvl1pPr marL="342900" indent="-342900" algn="r" rtl="1"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r" rtl="1"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r" rtl="1"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r" rtl="1"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 y="0"/>
            <a:ext cx="9143999" cy="1844824"/>
          </a:xfrm>
          <a:solidFill>
            <a:schemeClr val="accent1">
              <a:lumMod val="40000"/>
              <a:lumOff val="60000"/>
            </a:schemeClr>
          </a:solidFill>
          <a:ln>
            <a:noFill/>
          </a:ln>
          <a:effectLst>
            <a:glow rad="101600">
              <a:schemeClr val="accent6">
                <a:satMod val="175000"/>
                <a:alpha val="40000"/>
              </a:schemeClr>
            </a:glow>
            <a:innerShdw blurRad="63500" dist="50800" dir="13500000">
              <a:prstClr val="black">
                <a:alpha val="50000"/>
              </a:prstClr>
            </a:innerShdw>
          </a:effectLst>
          <a:extLst>
            <a:ext uri="{91240B29-F687-4F45-9708-019B960494DF}">
              <a14:hiddenLine xmlns:a14="http://schemas.microsoft.com/office/drawing/2010/main" w="9525">
                <a:solidFill>
                  <a:srgbClr val="000000"/>
                </a:solidFill>
                <a:miter lim="800000"/>
                <a:headEnd/>
                <a:tailEnd/>
              </a14:hiddenLine>
            </a:ext>
          </a:extLst>
        </p:spPr>
        <p:style>
          <a:lnRef idx="1">
            <a:schemeClr val="accent6"/>
          </a:lnRef>
          <a:fillRef idx="2">
            <a:schemeClr val="accent6"/>
          </a:fillRef>
          <a:effectRef idx="1">
            <a:schemeClr val="accent6"/>
          </a:effectRef>
          <a:fontRef idx="minor">
            <a:schemeClr val="dk1"/>
          </a:fontRef>
        </p:style>
        <p:txBody>
          <a:bodyPr rtlCol="0">
            <a:normAutofit fontScale="90000"/>
          </a:bodyPr>
          <a:lstStyle/>
          <a:p>
            <a:pPr rtl="1">
              <a:lnSpc>
                <a:spcPts val="1500"/>
              </a:lnSpc>
            </a:pPr>
            <a:br>
              <a:rPr lang="en-US"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br>
              <a:rPr lang="he-IL" b="1" dirty="0">
                <a:solidFill>
                  <a:schemeClr val="accent1"/>
                </a:solidFill>
                <a:latin typeface="Gisha" panose="020B0502040204020203" pitchFamily="34" charset="-79"/>
                <a:ea typeface="Calibri"/>
                <a:cs typeface="Gisha" panose="020B0502040204020203" pitchFamily="34" charset="-79"/>
              </a:rPr>
            </a:br>
            <a:r>
              <a:rPr lang="he-IL" sz="3100" dirty="0">
                <a:effectLst/>
                <a:latin typeface="Times New Roman" panose="02020603050405020304" pitchFamily="18" charset="0"/>
                <a:ea typeface="Times New Roman" panose="02020603050405020304" pitchFamily="18" charset="0"/>
                <a:cs typeface="David" panose="020E0502060401010101" pitchFamily="34" charset="-79"/>
              </a:rPr>
              <a:t>פיתוח מעורבות חברתית והתנדבות</a:t>
            </a:r>
            <a:br>
              <a:rPr lang="en-US" sz="3100" dirty="0">
                <a:effectLst/>
                <a:latin typeface="Times New Roman" panose="02020603050405020304" pitchFamily="18" charset="0"/>
                <a:ea typeface="Times New Roman" panose="02020603050405020304" pitchFamily="18" charset="0"/>
                <a:cs typeface="David" panose="020E0502060401010101" pitchFamily="34" charset="-79"/>
              </a:rPr>
            </a:br>
            <a:br>
              <a:rPr lang="en-US" sz="3100" dirty="0">
                <a:effectLst/>
                <a:latin typeface="Times New Roman" panose="02020603050405020304" pitchFamily="18" charset="0"/>
                <a:ea typeface="Times New Roman" panose="02020603050405020304" pitchFamily="18" charset="0"/>
              </a:rPr>
            </a:br>
            <a:r>
              <a:rPr lang="he-IL" sz="3100" dirty="0">
                <a:effectLst/>
                <a:ea typeface="Times New Roman" panose="02020603050405020304" pitchFamily="18" charset="0"/>
                <a:cs typeface="David" panose="020E0502060401010101" pitchFamily="34" charset="-79"/>
              </a:rPr>
              <a:t>התנדבות ומעורבות חברתית ככלי לצמיחה אישית</a:t>
            </a:r>
            <a:br>
              <a:rPr lang="he-IL" sz="3100" b="1" dirty="0">
                <a:solidFill>
                  <a:srgbClr val="002060"/>
                </a:solidFill>
                <a:effectLst>
                  <a:outerShdw blurRad="38100" dist="38100" dir="2700000" algn="tl">
                    <a:srgbClr val="000000">
                      <a:alpha val="43137"/>
                    </a:srgbClr>
                  </a:outerShdw>
                </a:effectLst>
                <a:latin typeface="Arial" panose="020B0604020202020204" pitchFamily="34" charset="0"/>
                <a:ea typeface="Calibri"/>
              </a:rPr>
            </a:br>
            <a:r>
              <a:rPr lang="he-IL" sz="3100" b="1" dirty="0">
                <a:solidFill>
                  <a:schemeClr val="tx2"/>
                </a:solidFill>
                <a:latin typeface="Arial" panose="020B0604020202020204" pitchFamily="34" charset="0"/>
                <a:ea typeface="Calibri"/>
              </a:rPr>
              <a:t> </a:t>
            </a:r>
            <a:br>
              <a:rPr lang="he-IL" sz="3100" b="1" dirty="0">
                <a:solidFill>
                  <a:schemeClr val="tx2"/>
                </a:solidFill>
                <a:latin typeface="Arial" panose="020B0604020202020204" pitchFamily="34" charset="0"/>
                <a:ea typeface="Calibri"/>
              </a:rPr>
            </a:br>
            <a:br>
              <a:rPr lang="he-IL" sz="3100" dirty="0"/>
            </a:br>
            <a:br>
              <a:rPr lang="he-IL" sz="3100" dirty="0"/>
            </a:br>
            <a:br>
              <a:rPr lang="he-IL" sz="3100" dirty="0"/>
            </a:br>
            <a:br>
              <a:rPr lang="he-IL" dirty="0"/>
            </a:br>
            <a:endParaRPr lang="he-IL" sz="2400" dirty="0">
              <a:solidFill>
                <a:srgbClr val="7030A0"/>
              </a:solidFill>
            </a:endParaRPr>
          </a:p>
        </p:txBody>
      </p:sp>
      <p:sp>
        <p:nvSpPr>
          <p:cNvPr id="3" name="כותרת משנה 4"/>
          <p:cNvSpPr txBox="1">
            <a:spLocks/>
          </p:cNvSpPr>
          <p:nvPr/>
        </p:nvSpPr>
        <p:spPr>
          <a:xfrm>
            <a:off x="1265011" y="2950028"/>
            <a:ext cx="6400800" cy="1752600"/>
          </a:xfrm>
          <a:prstGeom prst="rect">
            <a:avLst/>
          </a:prstGeom>
          <a:noFill/>
          <a:ln>
            <a:noFill/>
          </a:ln>
        </p:spPr>
        <p:txBody>
          <a:bodyPr>
            <a:normAutofit/>
          </a:bodyPr>
          <a:lstStyle>
            <a:lvl1pPr marL="182880" indent="-182880" algn="r" defTabSz="914400" rtl="1"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r" defTabSz="914400" rtl="1"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r" defTabSz="914400" rtl="1"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r" defTabSz="914400" rtl="1"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r" defTabSz="914400" rtl="1"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r" defTabSz="914400" rtl="1"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lgn="ctr" fontAlgn="auto">
              <a:spcAft>
                <a:spcPts val="0"/>
              </a:spcAft>
              <a:buFont typeface="Arial" pitchFamily="34" charset="0"/>
              <a:buNone/>
              <a:defRPr/>
            </a:pPr>
            <a:r>
              <a:rPr lang="ar-SA" sz="3200" dirty="0">
                <a:latin typeface="Guttman Yad-Brush" panose="02010401010101010101" pitchFamily="2" charset="-79"/>
                <a:cs typeface="Guttman Yad-Brush" panose="02010401010101010101" pitchFamily="2" charset="-79"/>
              </a:rPr>
              <a:t>التطوع بالمجتمع العربي بإسرائيل</a:t>
            </a:r>
            <a:endParaRPr lang="he-IL" sz="3200" dirty="0">
              <a:latin typeface="Guttman Yad-Brush" panose="02010401010101010101" pitchFamily="2" charset="-79"/>
              <a:cs typeface="Guttman Yad-Brush" panose="02010401010101010101" pitchFamily="2" charset="-79"/>
            </a:endParaRPr>
          </a:p>
        </p:txBody>
      </p:sp>
      <p:sp>
        <p:nvSpPr>
          <p:cNvPr id="6" name="מלבן מעוגל 5"/>
          <p:cNvSpPr/>
          <p:nvPr/>
        </p:nvSpPr>
        <p:spPr>
          <a:xfrm>
            <a:off x="266001" y="5517232"/>
            <a:ext cx="8728730" cy="1203920"/>
          </a:xfrm>
          <a:prstGeom prst="roundRect">
            <a:avLst/>
          </a:prstGeom>
          <a:solidFill>
            <a:srgbClr val="D5D0B5"/>
          </a:solidFill>
          <a:ln>
            <a:solidFill>
              <a:schemeClr val="bg1"/>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b="1" dirty="0">
              <a:solidFill>
                <a:srgbClr val="7030A0"/>
              </a:solidFill>
              <a:effectLst>
                <a:outerShdw blurRad="38100" dist="38100" dir="2700000" algn="tl">
                  <a:srgbClr val="000000">
                    <a:alpha val="43137"/>
                  </a:srgbClr>
                </a:outerShdw>
              </a:effectLst>
            </a:endParaRPr>
          </a:p>
          <a:p>
            <a:pPr algn="ctr">
              <a:defRPr/>
            </a:pPr>
            <a:endParaRPr lang="he-IL" b="1" dirty="0">
              <a:solidFill>
                <a:srgbClr val="7030A0"/>
              </a:solidFill>
              <a:effectLst>
                <a:outerShdw blurRad="38100" dist="38100" dir="2700000" algn="tl">
                  <a:srgbClr val="000000">
                    <a:alpha val="43137"/>
                  </a:srgbClr>
                </a:outerShdw>
              </a:effectLst>
            </a:endParaRPr>
          </a:p>
          <a:p>
            <a:pPr algn="ctr">
              <a:defRPr/>
            </a:pPr>
            <a:r>
              <a:rPr lang="ar-SA" sz="2000" b="1" dirty="0">
                <a:solidFill>
                  <a:schemeClr val="tx1"/>
                </a:solidFill>
              </a:rPr>
              <a:t>اميرة قاسم</a:t>
            </a:r>
            <a:endParaRPr lang="he-IL" sz="2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3F6442-2416-47DE-A00E-3FD8E4874E3D}"/>
              </a:ext>
            </a:extLst>
          </p:cNvPr>
          <p:cNvSpPr>
            <a:spLocks noGrp="1"/>
          </p:cNvSpPr>
          <p:nvPr>
            <p:ph type="title"/>
          </p:nvPr>
        </p:nvSpPr>
        <p:spPr/>
        <p:txBody>
          <a:bodyPr/>
          <a:lstStyle/>
          <a:p>
            <a:r>
              <a:rPr lang="ar-SA" dirty="0"/>
              <a:t>التطوع</a:t>
            </a:r>
            <a:endParaRPr lang="he-IL" dirty="0"/>
          </a:p>
        </p:txBody>
      </p:sp>
      <p:sp>
        <p:nvSpPr>
          <p:cNvPr id="4" name="תיבת טקסט 3">
            <a:extLst>
              <a:ext uri="{FF2B5EF4-FFF2-40B4-BE49-F238E27FC236}">
                <a16:creationId xmlns:a16="http://schemas.microsoft.com/office/drawing/2014/main" id="{1E2431BD-EFA8-E018-2272-DF5DE2650BE8}"/>
              </a:ext>
            </a:extLst>
          </p:cNvPr>
          <p:cNvSpPr txBox="1"/>
          <p:nvPr/>
        </p:nvSpPr>
        <p:spPr>
          <a:xfrm>
            <a:off x="1687286" y="1575528"/>
            <a:ext cx="5769428" cy="4401205"/>
          </a:xfrm>
          <a:prstGeom prst="rect">
            <a:avLst/>
          </a:prstGeom>
          <a:noFill/>
        </p:spPr>
        <p:txBody>
          <a:bodyPr wrap="square">
            <a:spAutoFit/>
          </a:bodyPr>
          <a:lstStyle/>
          <a:p>
            <a:pPr marL="285750" indent="-285750">
              <a:buFont typeface="Arial" panose="020B0604020202020204" pitchFamily="34" charset="0"/>
              <a:buChar char="•"/>
            </a:pPr>
            <a:r>
              <a:rPr lang="ar-SA" sz="2800" dirty="0"/>
              <a:t>يعد العمل التطوعي الركيزة الأساسية التي تساهم بشكل كبير في بناء المجتمعات، كما أنه من أهم الآليات لتحقيق التنمية، كما أنه الوسيلة التي يمكن من خلالها أن نزيد رأس المال الاجتماعي لاي مجتمع</a:t>
            </a:r>
            <a:endParaRPr lang="ar-SA" sz="2800" b="1" dirty="0"/>
          </a:p>
          <a:p>
            <a:pPr marL="285750" indent="-285750">
              <a:buFont typeface="Arial" panose="020B0604020202020204" pitchFamily="34" charset="0"/>
              <a:buChar char="•"/>
            </a:pPr>
            <a:r>
              <a:rPr lang="ar-SA" sz="2800" dirty="0"/>
              <a:t>يتضاءل العمل التطوعي من حيث الحجم في فترات الاستقرار والهدوء أو في ظل سيطرة الدولة والمركزية، ويزيد في أوقات الكوارث والنكبات والحروب أو في ظل نمو المجتمع المدني واللامركزية</a:t>
            </a:r>
            <a:endParaRPr lang="he-IL" sz="2800" dirty="0"/>
          </a:p>
        </p:txBody>
      </p:sp>
    </p:spTree>
    <p:extLst>
      <p:ext uri="{BB962C8B-B14F-4D97-AF65-F5344CB8AC3E}">
        <p14:creationId xmlns:p14="http://schemas.microsoft.com/office/powerpoint/2010/main" val="2257547755"/>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08B14B-A58D-D62B-6306-AC2960489145}"/>
              </a:ext>
            </a:extLst>
          </p:cNvPr>
          <p:cNvSpPr>
            <a:spLocks noGrp="1"/>
          </p:cNvSpPr>
          <p:nvPr>
            <p:ph type="title"/>
          </p:nvPr>
        </p:nvSpPr>
        <p:spPr>
          <a:xfrm>
            <a:off x="457200" y="274638"/>
            <a:ext cx="8229600" cy="781276"/>
          </a:xfrm>
        </p:spPr>
        <p:txBody>
          <a:bodyPr/>
          <a:lstStyle/>
          <a:p>
            <a:r>
              <a:rPr lang="ar-SA" dirty="0">
                <a:solidFill>
                  <a:srgbClr val="2A5154"/>
                </a:solidFill>
              </a:rPr>
              <a:t>أنواع التطوع</a:t>
            </a:r>
            <a:endParaRPr lang="he-IL" dirty="0">
              <a:solidFill>
                <a:srgbClr val="2A5154"/>
              </a:solidFill>
            </a:endParaRPr>
          </a:p>
        </p:txBody>
      </p:sp>
      <p:sp>
        <p:nvSpPr>
          <p:cNvPr id="4" name="תיבת טקסט 3">
            <a:extLst>
              <a:ext uri="{FF2B5EF4-FFF2-40B4-BE49-F238E27FC236}">
                <a16:creationId xmlns:a16="http://schemas.microsoft.com/office/drawing/2014/main" id="{9B2281F1-9F1A-ACD5-791D-0DD9EBDFC400}"/>
              </a:ext>
            </a:extLst>
          </p:cNvPr>
          <p:cNvSpPr txBox="1"/>
          <p:nvPr/>
        </p:nvSpPr>
        <p:spPr>
          <a:xfrm>
            <a:off x="1099458" y="863875"/>
            <a:ext cx="7750629" cy="6124754"/>
          </a:xfrm>
          <a:prstGeom prst="rect">
            <a:avLst/>
          </a:prstGeom>
          <a:noFill/>
        </p:spPr>
        <p:txBody>
          <a:bodyPr wrap="square">
            <a:spAutoFit/>
          </a:bodyPr>
          <a:lstStyle/>
          <a:p>
            <a:r>
              <a:rPr lang="ar-SA" sz="2800" b="1" i="0" dirty="0">
                <a:solidFill>
                  <a:srgbClr val="808080"/>
                </a:solidFill>
                <a:effectLst/>
                <a:latin typeface="Lato" panose="020B0604020202020204" pitchFamily="34" charset="0"/>
              </a:rPr>
              <a:t>العمل التطوعي الرسمي</a:t>
            </a:r>
          </a:p>
          <a:p>
            <a:r>
              <a:rPr lang="ar-SA" sz="2800" b="1" i="0" dirty="0">
                <a:effectLst/>
                <a:latin typeface="Lato" panose="020F0502020204030203" pitchFamily="34" charset="0"/>
              </a:rPr>
              <a:t>برامج منظّمة طويلة المدى</a:t>
            </a:r>
            <a:r>
              <a:rPr lang="ar-SA" sz="2800" b="0" i="0" dirty="0">
                <a:effectLst/>
                <a:latin typeface="Lato" panose="020F0502020204030203" pitchFamily="34" charset="0"/>
              </a:rPr>
              <a:t>، حيث تتطلّب حضوراً مستمرّاً ومنتظماً من المتطوعين، كما أنّها تُدار من قِبل مديرين ومُنسّقين يُعيّنون المتطوعين، ويُدرّبونهم، ويشرفون على مدى التزامهم بالسياسات والإجراءات خلال عملهم، كما يشرفون على النتائج التي يحقّقونها ويتأكّدون من جودتها</a:t>
            </a:r>
            <a:r>
              <a:rPr lang="en-US" sz="2800" b="0" i="0" dirty="0">
                <a:effectLst/>
                <a:latin typeface="Lato" panose="020F0502020204030203" pitchFamily="34" charset="0"/>
              </a:rPr>
              <a:t>.</a:t>
            </a:r>
          </a:p>
          <a:p>
            <a:endParaRPr lang="he-IL" sz="2800" dirty="0">
              <a:solidFill>
                <a:srgbClr val="808080"/>
              </a:solidFill>
              <a:latin typeface="Lato" panose="020F0502020204030203" pitchFamily="34" charset="0"/>
            </a:endParaRPr>
          </a:p>
          <a:p>
            <a:r>
              <a:rPr lang="ar-SA" sz="2800" b="1" i="0" dirty="0">
                <a:solidFill>
                  <a:srgbClr val="808080"/>
                </a:solidFill>
                <a:effectLst/>
                <a:latin typeface="Lato" panose="020F0502020204030203" pitchFamily="34" charset="0"/>
              </a:rPr>
              <a:t>العمل التطوعي غير الرسمي</a:t>
            </a:r>
            <a:endParaRPr lang="he-IL" sz="2800" b="1" i="0" dirty="0">
              <a:solidFill>
                <a:srgbClr val="808080"/>
              </a:solidFill>
              <a:effectLst/>
              <a:latin typeface="Lato" panose="020F0502020204030203" pitchFamily="34" charset="0"/>
            </a:endParaRPr>
          </a:p>
          <a:p>
            <a:r>
              <a:rPr lang="ar-SA" sz="2800" b="0" i="0" dirty="0">
                <a:effectLst/>
                <a:latin typeface="Lato" panose="020F0502020204030203" pitchFamily="34" charset="0"/>
              </a:rPr>
              <a:t>يُعدّ العمل التطوعي غير الرسمي من أكثر أنواع التطوع شيوعاً في المجتمعات المحلية، ويُدار عادةً من قِبل جمعيات أو جهات غير منظمة أو ممولة؛ فالتطوع غير الرسمي هو </a:t>
            </a:r>
            <a:r>
              <a:rPr lang="ar-SA" sz="2800" b="1" i="0" dirty="0">
                <a:effectLst/>
                <a:latin typeface="Lato" panose="020F0502020204030203" pitchFamily="34" charset="0"/>
              </a:rPr>
              <a:t>أعمال خيرية </a:t>
            </a:r>
            <a:r>
              <a:rPr lang="ar-SA" sz="2800" b="0" i="0" dirty="0">
                <a:effectLst/>
                <a:latin typeface="Lato" panose="020F0502020204030203" pitchFamily="34" charset="0"/>
              </a:rPr>
              <a:t>تهدف بشكل رئيسي إلى </a:t>
            </a:r>
            <a:r>
              <a:rPr lang="ar-SA" sz="2800" b="1" i="0" dirty="0">
                <a:effectLst/>
                <a:latin typeface="Lato" panose="020F0502020204030203" pitchFamily="34" charset="0"/>
              </a:rPr>
              <a:t>تقديم المساعدة للأشخاص</a:t>
            </a:r>
            <a:r>
              <a:rPr lang="ar-SA" sz="2800" b="0" i="0" dirty="0">
                <a:effectLst/>
                <a:latin typeface="Lato" panose="020F0502020204030203" pitchFamily="34" charset="0"/>
              </a:rPr>
              <a:t> الذين يحتاجونها من السكّان المحليين، وعادًة ينظر المتطوعون في هذه الأعمال إلى أنفسهم على أنّهم أصدقاء أو عائلة واحدة</a:t>
            </a:r>
            <a:endParaRPr lang="he-IL" sz="2800" dirty="0"/>
          </a:p>
        </p:txBody>
      </p:sp>
    </p:spTree>
    <p:extLst>
      <p:ext uri="{BB962C8B-B14F-4D97-AF65-F5344CB8AC3E}">
        <p14:creationId xmlns:p14="http://schemas.microsoft.com/office/powerpoint/2010/main" val="367926013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7BCA9C-7989-004A-715E-3FAFC1AFD54B}"/>
              </a:ext>
            </a:extLst>
          </p:cNvPr>
          <p:cNvSpPr>
            <a:spLocks noGrp="1"/>
          </p:cNvSpPr>
          <p:nvPr>
            <p:ph type="title"/>
          </p:nvPr>
        </p:nvSpPr>
        <p:spPr/>
        <p:txBody>
          <a:bodyPr/>
          <a:lstStyle/>
          <a:p>
            <a:r>
              <a:rPr lang="ar-SA" dirty="0"/>
              <a:t>فوائد التطوع للهيئات والمؤسسات المحلية:</a:t>
            </a:r>
            <a:endParaRPr lang="he-IL" dirty="0"/>
          </a:p>
        </p:txBody>
      </p:sp>
      <p:sp>
        <p:nvSpPr>
          <p:cNvPr id="4" name="תיבת טקסט 3">
            <a:extLst>
              <a:ext uri="{FF2B5EF4-FFF2-40B4-BE49-F238E27FC236}">
                <a16:creationId xmlns:a16="http://schemas.microsoft.com/office/drawing/2014/main" id="{BDD0B184-3628-A4AB-54A0-D38A0246BAE5}"/>
              </a:ext>
            </a:extLst>
          </p:cNvPr>
          <p:cNvSpPr txBox="1"/>
          <p:nvPr/>
        </p:nvSpPr>
        <p:spPr>
          <a:xfrm>
            <a:off x="2144485" y="2064995"/>
            <a:ext cx="5236029" cy="3416320"/>
          </a:xfrm>
          <a:prstGeom prst="rect">
            <a:avLst/>
          </a:prstGeom>
          <a:noFill/>
        </p:spPr>
        <p:txBody>
          <a:bodyPr wrap="square">
            <a:spAutoFit/>
          </a:bodyPr>
          <a:lstStyle/>
          <a:p>
            <a:pPr marL="285750" indent="-285750">
              <a:buFont typeface="Arial" panose="020B0604020202020204" pitchFamily="34" charset="0"/>
              <a:buChar char="•"/>
            </a:pPr>
            <a:r>
              <a:rPr lang="ar-SA" sz="2400" dirty="0"/>
              <a:t>اكتساب احترام وثقة المجتمع حيث أن المؤسسة التي تشجع التطوع هي مؤسسة تشجع على المشاركة المجتمعية.</a:t>
            </a:r>
          </a:p>
          <a:p>
            <a:pPr marL="285750" indent="-285750">
              <a:buFont typeface="Arial" panose="020B0604020202020204" pitchFamily="34" charset="0"/>
              <a:buChar char="•"/>
            </a:pPr>
            <a:r>
              <a:rPr lang="ar-SA" sz="2400" dirty="0"/>
              <a:t> سد النقص في عدد المهنيين الذي قد تعاني منه الهيئات أو المؤسسات. </a:t>
            </a:r>
          </a:p>
          <a:p>
            <a:pPr marL="285750" indent="-285750">
              <a:buFont typeface="Arial" panose="020B0604020202020204" pitchFamily="34" charset="0"/>
              <a:buChar char="•"/>
            </a:pPr>
            <a:r>
              <a:rPr lang="ar-SA" sz="2400" dirty="0"/>
              <a:t> الدفاع عن وترويج الأفكار التي تقوم عليها المؤسسات الاجتماعية في المجتمع وجذب المساندة والمساعدة للهيئات والمؤسسات. </a:t>
            </a:r>
          </a:p>
          <a:p>
            <a:pPr marL="285750" indent="-285750">
              <a:buFont typeface="Arial" panose="020B0604020202020204" pitchFamily="34" charset="0"/>
              <a:buChar char="•"/>
            </a:pPr>
            <a:r>
              <a:rPr lang="ar-SA" sz="2400" dirty="0"/>
              <a:t> تنفيذ الأنشطة والبرامج بتكلفه أقل وبكفاءة أعلى.</a:t>
            </a:r>
            <a:endParaRPr lang="he-IL" sz="2400" dirty="0"/>
          </a:p>
        </p:txBody>
      </p:sp>
    </p:spTree>
    <p:extLst>
      <p:ext uri="{BB962C8B-B14F-4D97-AF65-F5344CB8AC3E}">
        <p14:creationId xmlns:p14="http://schemas.microsoft.com/office/powerpoint/2010/main" val="75156902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33406E-7D84-E94D-082B-ED0FC620C89A}"/>
              </a:ext>
            </a:extLst>
          </p:cNvPr>
          <p:cNvSpPr>
            <a:spLocks noGrp="1"/>
          </p:cNvSpPr>
          <p:nvPr>
            <p:ph type="title"/>
          </p:nvPr>
        </p:nvSpPr>
        <p:spPr/>
        <p:txBody>
          <a:bodyPr/>
          <a:lstStyle/>
          <a:p>
            <a:r>
              <a:rPr lang="ar-SA" dirty="0"/>
              <a:t>فوائد التطوع على المتطوع خاصة النشء والشباب:</a:t>
            </a:r>
            <a:endParaRPr lang="he-IL" dirty="0"/>
          </a:p>
        </p:txBody>
      </p:sp>
      <p:sp>
        <p:nvSpPr>
          <p:cNvPr id="4" name="תיבת טקסט 3">
            <a:extLst>
              <a:ext uri="{FF2B5EF4-FFF2-40B4-BE49-F238E27FC236}">
                <a16:creationId xmlns:a16="http://schemas.microsoft.com/office/drawing/2014/main" id="{B8A0E556-FD22-64B7-E52E-5A1994BFE4C6}"/>
              </a:ext>
            </a:extLst>
          </p:cNvPr>
          <p:cNvSpPr txBox="1"/>
          <p:nvPr/>
        </p:nvSpPr>
        <p:spPr>
          <a:xfrm>
            <a:off x="1534886" y="1909578"/>
            <a:ext cx="5736771" cy="3416320"/>
          </a:xfrm>
          <a:prstGeom prst="rect">
            <a:avLst/>
          </a:prstGeom>
          <a:noFill/>
        </p:spPr>
        <p:txBody>
          <a:bodyPr wrap="square">
            <a:spAutoFit/>
          </a:bodyPr>
          <a:lstStyle/>
          <a:p>
            <a:pPr marL="285750" indent="-285750">
              <a:buFont typeface="Arial" panose="020B0604020202020204" pitchFamily="34" charset="0"/>
              <a:buChar char="•"/>
            </a:pPr>
            <a:r>
              <a:rPr lang="ar-SA" sz="2400" dirty="0"/>
              <a:t>اكتساب خبرات جديدة وتنمية مهارات المتطوع. </a:t>
            </a:r>
          </a:p>
          <a:p>
            <a:pPr marL="285750" indent="-285750">
              <a:buFont typeface="Arial" panose="020B0604020202020204" pitchFamily="34" charset="0"/>
              <a:buChar char="•"/>
            </a:pPr>
            <a:r>
              <a:rPr lang="ar-SA" sz="2400" dirty="0"/>
              <a:t>رفع روح الانتماء لدى المتطوع. </a:t>
            </a:r>
          </a:p>
          <a:p>
            <a:pPr marL="285750" indent="-285750">
              <a:buFont typeface="Arial" panose="020B0604020202020204" pitchFamily="34" charset="0"/>
              <a:buChar char="•"/>
            </a:pPr>
            <a:r>
              <a:rPr lang="ar-SA" sz="2400" dirty="0"/>
              <a:t> تقدير المجتمع للمتطوع مما يؤثر عليه ايجابياً في احساسه بذاته. </a:t>
            </a:r>
          </a:p>
          <a:p>
            <a:pPr marL="285750" indent="-285750">
              <a:buFont typeface="Arial" panose="020B0604020202020204" pitchFamily="34" charset="0"/>
              <a:buChar char="•"/>
            </a:pPr>
            <a:r>
              <a:rPr lang="ar-SA" sz="2400" dirty="0"/>
              <a:t> تكوين صداقات ومجموعات من الأفراد لها نفس الاهتمامات. </a:t>
            </a:r>
          </a:p>
          <a:p>
            <a:pPr marL="285750" indent="-285750">
              <a:buFont typeface="Arial" panose="020B0604020202020204" pitchFamily="34" charset="0"/>
              <a:buChar char="•"/>
            </a:pPr>
            <a:r>
              <a:rPr lang="ar-SA" sz="2400" dirty="0"/>
              <a:t> بناء علاقات جديدة. </a:t>
            </a:r>
          </a:p>
          <a:p>
            <a:pPr marL="285750" indent="-285750">
              <a:buFont typeface="Arial" panose="020B0604020202020204" pitchFamily="34" charset="0"/>
              <a:buChar char="•"/>
            </a:pPr>
            <a:r>
              <a:rPr lang="ar-SA" sz="2400" dirty="0"/>
              <a:t>الشعور بتقدير الذات والثقة بالنفس. </a:t>
            </a:r>
          </a:p>
          <a:p>
            <a:pPr marL="285750" indent="-285750">
              <a:buFont typeface="Arial" panose="020B0604020202020204" pitchFamily="34" charset="0"/>
              <a:buChar char="•"/>
            </a:pPr>
            <a:r>
              <a:rPr lang="ar-SA" sz="2400" dirty="0"/>
              <a:t> الولاء للمجتمع وإدراك أهمية عملية التنمية</a:t>
            </a:r>
            <a:endParaRPr lang="he-IL" sz="2400" dirty="0"/>
          </a:p>
        </p:txBody>
      </p:sp>
    </p:spTree>
    <p:extLst>
      <p:ext uri="{BB962C8B-B14F-4D97-AF65-F5344CB8AC3E}">
        <p14:creationId xmlns:p14="http://schemas.microsoft.com/office/powerpoint/2010/main" val="1399610961"/>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F80EE7A-E251-3E38-34B6-379847B78704}"/>
              </a:ext>
            </a:extLst>
          </p:cNvPr>
          <p:cNvSpPr>
            <a:spLocks noGrp="1"/>
          </p:cNvSpPr>
          <p:nvPr>
            <p:ph type="title"/>
          </p:nvPr>
        </p:nvSpPr>
        <p:spPr>
          <a:xfrm>
            <a:off x="511628" y="2059895"/>
            <a:ext cx="8175171" cy="2076675"/>
          </a:xfrm>
        </p:spPr>
        <p:txBody>
          <a:bodyPr/>
          <a:lstStyle/>
          <a:p>
            <a:r>
              <a:rPr lang="ar-SA" dirty="0"/>
              <a:t>أسئلة للمتطوع؟</a:t>
            </a:r>
            <a:br>
              <a:rPr lang="ar-SA" dirty="0"/>
            </a:br>
            <a:r>
              <a:rPr lang="ar-SA" dirty="0"/>
              <a:t>أسئلة للمؤسسات؟</a:t>
            </a:r>
            <a:endParaRPr lang="he-IL" dirty="0"/>
          </a:p>
        </p:txBody>
      </p:sp>
    </p:spTree>
    <p:extLst>
      <p:ext uri="{BB962C8B-B14F-4D97-AF65-F5344CB8AC3E}">
        <p14:creationId xmlns:p14="http://schemas.microsoft.com/office/powerpoint/2010/main" val="341304988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A7A73FA-BAB8-19AC-9AAA-BA2B071F08E6}"/>
              </a:ext>
            </a:extLst>
          </p:cNvPr>
          <p:cNvSpPr>
            <a:spLocks noGrp="1"/>
          </p:cNvSpPr>
          <p:nvPr>
            <p:ph type="title"/>
          </p:nvPr>
        </p:nvSpPr>
        <p:spPr>
          <a:xfrm>
            <a:off x="827314" y="1994581"/>
            <a:ext cx="7859486" cy="2631848"/>
          </a:xfrm>
        </p:spPr>
        <p:txBody>
          <a:bodyPr/>
          <a:lstStyle/>
          <a:p>
            <a:r>
              <a:rPr lang="ar-SA" dirty="0"/>
              <a:t>أي اطر تطوعيه تعرفون؟</a:t>
            </a:r>
            <a:br>
              <a:rPr lang="ar-SA" dirty="0"/>
            </a:br>
            <a:r>
              <a:rPr lang="ar-SA" dirty="0"/>
              <a:t>ما مميزات الأطر التطوعية بالبلاد؟</a:t>
            </a:r>
            <a:br>
              <a:rPr lang="ar-SA" dirty="0"/>
            </a:br>
            <a:r>
              <a:rPr lang="ar-SA" dirty="0"/>
              <a:t>هل تطوعت بالسابق او هل تطوع اليوم؟</a:t>
            </a:r>
            <a:endParaRPr lang="he-IL" dirty="0"/>
          </a:p>
        </p:txBody>
      </p:sp>
    </p:spTree>
    <p:extLst>
      <p:ext uri="{BB962C8B-B14F-4D97-AF65-F5344CB8AC3E}">
        <p14:creationId xmlns:p14="http://schemas.microsoft.com/office/powerpoint/2010/main" val="1668456355"/>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393AEA-9B1C-7213-273C-38615AD43093}"/>
              </a:ext>
            </a:extLst>
          </p:cNvPr>
          <p:cNvSpPr>
            <a:spLocks noGrp="1"/>
          </p:cNvSpPr>
          <p:nvPr>
            <p:ph type="title"/>
          </p:nvPr>
        </p:nvSpPr>
        <p:spPr/>
        <p:txBody>
          <a:bodyPr/>
          <a:lstStyle/>
          <a:p>
            <a:r>
              <a:rPr lang="ar-SA" dirty="0">
                <a:solidFill>
                  <a:srgbClr val="2A5154"/>
                </a:solidFill>
              </a:rPr>
              <a:t>اهميه التطوع بجيل مبكر</a:t>
            </a:r>
            <a:endParaRPr lang="he-IL" dirty="0">
              <a:solidFill>
                <a:srgbClr val="2A5154"/>
              </a:solidFill>
            </a:endParaRPr>
          </a:p>
        </p:txBody>
      </p:sp>
      <p:sp>
        <p:nvSpPr>
          <p:cNvPr id="4" name="תיבת טקסט 3">
            <a:extLst>
              <a:ext uri="{FF2B5EF4-FFF2-40B4-BE49-F238E27FC236}">
                <a16:creationId xmlns:a16="http://schemas.microsoft.com/office/drawing/2014/main" id="{FFBC6A7D-293E-6F53-C07F-5308D598EE73}"/>
              </a:ext>
            </a:extLst>
          </p:cNvPr>
          <p:cNvSpPr txBox="1"/>
          <p:nvPr/>
        </p:nvSpPr>
        <p:spPr>
          <a:xfrm>
            <a:off x="794657" y="1839687"/>
            <a:ext cx="7892143" cy="3046988"/>
          </a:xfrm>
          <a:prstGeom prst="rect">
            <a:avLst/>
          </a:prstGeom>
          <a:noFill/>
        </p:spPr>
        <p:txBody>
          <a:bodyPr wrap="square">
            <a:spAutoFit/>
          </a:bodyPr>
          <a:lstStyle/>
          <a:p>
            <a:r>
              <a:rPr lang="ar-SA" sz="2400" dirty="0"/>
              <a:t>التطوع من أهم الوسائل ّ لبناء شخصية المتطوع، وتنميته </a:t>
            </a:r>
            <a:r>
              <a:rPr lang="ar-SA" sz="2400" dirty="0" err="1"/>
              <a:t>مهارياً</a:t>
            </a:r>
            <a:r>
              <a:rPr lang="ar-SA" sz="2400" dirty="0"/>
              <a:t>، واجتماعيا، وأخلاقيا، ودينياً، وفكرياً. وتؤكّد العديد من ّ الدراسات أن ّ تنمية الحس ّ التطوعي تبدأ من سن ّ مبكرة (برقاوي، 2008 ،67) </a:t>
            </a:r>
          </a:p>
          <a:p>
            <a:r>
              <a:rPr lang="ar-SA" sz="2400" dirty="0"/>
              <a:t> فالتطوع بهذا المفهوم يساعد الأفراد على إشباع الكثير من احتياجاتهم، مثل الحاجة إلى الصداقة، والمشاركة في مشروعات جماعية ناجحة، والتعبير عن ذواتهم، وتنمية الميول والقدرات، واكتساب خبرات جديدة وتوسيع مداركهم، وإنارة وعيهم الوطني والإنساني والديني (حريري، 2006 ،128)</a:t>
            </a:r>
            <a:endParaRPr lang="he-IL" sz="2400" dirty="0"/>
          </a:p>
          <a:p>
            <a:endParaRPr lang="he-IL" sz="2400" dirty="0"/>
          </a:p>
        </p:txBody>
      </p:sp>
    </p:spTree>
    <p:extLst>
      <p:ext uri="{BB962C8B-B14F-4D97-AF65-F5344CB8AC3E}">
        <p14:creationId xmlns:p14="http://schemas.microsoft.com/office/powerpoint/2010/main" val="171254002"/>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09CE16C-E944-D06F-18C0-0F6AF55732C3}"/>
              </a:ext>
            </a:extLst>
          </p:cNvPr>
          <p:cNvSpPr>
            <a:spLocks noGrp="1"/>
          </p:cNvSpPr>
          <p:nvPr>
            <p:ph type="title"/>
          </p:nvPr>
        </p:nvSpPr>
        <p:spPr/>
        <p:txBody>
          <a:bodyPr/>
          <a:lstStyle/>
          <a:p>
            <a:r>
              <a:rPr lang="ar-SA" dirty="0">
                <a:solidFill>
                  <a:srgbClr val="2A5154"/>
                </a:solidFill>
              </a:rPr>
              <a:t>عمل بمجموعات</a:t>
            </a:r>
            <a:endParaRPr lang="he-IL" dirty="0">
              <a:solidFill>
                <a:srgbClr val="2A5154"/>
              </a:solidFill>
            </a:endParaRPr>
          </a:p>
        </p:txBody>
      </p:sp>
      <p:sp>
        <p:nvSpPr>
          <p:cNvPr id="4" name="תיבת טקסט 3">
            <a:extLst>
              <a:ext uri="{FF2B5EF4-FFF2-40B4-BE49-F238E27FC236}">
                <a16:creationId xmlns:a16="http://schemas.microsoft.com/office/drawing/2014/main" id="{36C786AF-4DDA-8696-A2DE-F0B6BA66B3F8}"/>
              </a:ext>
            </a:extLst>
          </p:cNvPr>
          <p:cNvSpPr txBox="1"/>
          <p:nvPr/>
        </p:nvSpPr>
        <p:spPr>
          <a:xfrm>
            <a:off x="293914" y="2002971"/>
            <a:ext cx="8077200" cy="2554545"/>
          </a:xfrm>
          <a:prstGeom prst="rect">
            <a:avLst/>
          </a:prstGeom>
          <a:noFill/>
        </p:spPr>
        <p:txBody>
          <a:bodyPr wrap="square">
            <a:spAutoFit/>
          </a:bodyPr>
          <a:lstStyle/>
          <a:p>
            <a:r>
              <a:rPr lang="ar-SA" sz="4000" dirty="0"/>
              <a:t>1- ما هي قيم العمل التطوعي وغرسها المدارس؟ </a:t>
            </a:r>
          </a:p>
          <a:p>
            <a:r>
              <a:rPr lang="ar-SA" sz="4000" dirty="0"/>
              <a:t>2- ما معوقات غرس قيم العمل التطوعي لطلّاب المدارس؟</a:t>
            </a:r>
          </a:p>
          <a:p>
            <a:r>
              <a:rPr lang="ar-SA" sz="4000" dirty="0"/>
              <a:t>3-اقترح مشروع ممكن تطبيقه داخل المدارس</a:t>
            </a:r>
            <a:endParaRPr lang="he-IL" sz="4000" dirty="0"/>
          </a:p>
        </p:txBody>
      </p:sp>
    </p:spTree>
    <p:extLst>
      <p:ext uri="{BB962C8B-B14F-4D97-AF65-F5344CB8AC3E}">
        <p14:creationId xmlns:p14="http://schemas.microsoft.com/office/powerpoint/2010/main" val="1982615909"/>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D290374-88DF-6B4D-827A-3144622605F2}"/>
              </a:ext>
            </a:extLst>
          </p:cNvPr>
          <p:cNvSpPr>
            <a:spLocks noGrp="1"/>
          </p:cNvSpPr>
          <p:nvPr>
            <p:ph type="title"/>
          </p:nvPr>
        </p:nvSpPr>
        <p:spPr/>
        <p:txBody>
          <a:bodyPr/>
          <a:lstStyle/>
          <a:p>
            <a:r>
              <a:rPr lang="ar-SA" dirty="0"/>
              <a:t>التحديات التي تواجه العمل التطوعي</a:t>
            </a:r>
            <a:endParaRPr lang="he-IL" dirty="0"/>
          </a:p>
        </p:txBody>
      </p:sp>
      <p:sp>
        <p:nvSpPr>
          <p:cNvPr id="4" name="תיבת טקסט 3">
            <a:extLst>
              <a:ext uri="{FF2B5EF4-FFF2-40B4-BE49-F238E27FC236}">
                <a16:creationId xmlns:a16="http://schemas.microsoft.com/office/drawing/2014/main" id="{A6A7D0AA-2FB4-FF44-26E4-44B202148000}"/>
              </a:ext>
            </a:extLst>
          </p:cNvPr>
          <p:cNvSpPr txBox="1"/>
          <p:nvPr/>
        </p:nvSpPr>
        <p:spPr>
          <a:xfrm>
            <a:off x="707571" y="2137007"/>
            <a:ext cx="6923315" cy="2308324"/>
          </a:xfrm>
          <a:prstGeom prst="rect">
            <a:avLst/>
          </a:prstGeom>
          <a:noFill/>
        </p:spPr>
        <p:txBody>
          <a:bodyPr wrap="square">
            <a:spAutoFit/>
          </a:bodyPr>
          <a:lstStyle/>
          <a:p>
            <a:pPr marL="285750" indent="-285750">
              <a:buFont typeface="Arial" panose="020B0604020202020204" pitchFamily="34" charset="0"/>
              <a:buChar char="•"/>
            </a:pPr>
            <a:r>
              <a:rPr lang="ar-SA" sz="2400" dirty="0"/>
              <a:t>هناك تراجع فيما يخص ثقافة التطوع خاصة بين النشء والشباب</a:t>
            </a:r>
          </a:p>
          <a:p>
            <a:pPr marL="285750" indent="-285750">
              <a:buFont typeface="Arial" panose="020B0604020202020204" pitchFamily="34" charset="0"/>
              <a:buChar char="•"/>
            </a:pPr>
            <a:r>
              <a:rPr lang="ar-SA" sz="2400" dirty="0"/>
              <a:t>ضعف الوعي بمفهوم وفوائد المشاركة في العمل الاجتماعي التطوعي. </a:t>
            </a:r>
          </a:p>
          <a:p>
            <a:pPr marL="285750" indent="-285750">
              <a:buFont typeface="Arial" panose="020B0604020202020204" pitchFamily="34" charset="0"/>
              <a:buChar char="•"/>
            </a:pPr>
            <a:r>
              <a:rPr lang="ar-SA" sz="2400" dirty="0"/>
              <a:t>قله البرامج التي من الممكن أن تستوعب متطوعين في المنظمات غير الحكومية. </a:t>
            </a:r>
          </a:p>
          <a:p>
            <a:pPr marL="285750" indent="-285750">
              <a:buFont typeface="Arial" panose="020B0604020202020204" pitchFamily="34" charset="0"/>
              <a:buChar char="•"/>
            </a:pPr>
            <a:r>
              <a:rPr lang="ar-SA" sz="2400" dirty="0"/>
              <a:t> قلة مراكز التطوع الموجودة داخل المنظمات غير الحكومية.</a:t>
            </a:r>
            <a:endParaRPr lang="he-IL" sz="2400" dirty="0"/>
          </a:p>
        </p:txBody>
      </p:sp>
    </p:spTree>
    <p:extLst>
      <p:ext uri="{BB962C8B-B14F-4D97-AF65-F5344CB8AC3E}">
        <p14:creationId xmlns:p14="http://schemas.microsoft.com/office/powerpoint/2010/main" val="3003753403"/>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0F24A6-9630-392B-9295-C4896F8F55B4}"/>
              </a:ext>
            </a:extLst>
          </p:cNvPr>
          <p:cNvSpPr>
            <a:spLocks noGrp="1"/>
          </p:cNvSpPr>
          <p:nvPr>
            <p:ph type="title"/>
          </p:nvPr>
        </p:nvSpPr>
        <p:spPr/>
        <p:txBody>
          <a:bodyPr/>
          <a:lstStyle/>
          <a:p>
            <a:r>
              <a:rPr lang="ar-SA" dirty="0"/>
              <a:t>مراحل لبناء برنامج تطوعي</a:t>
            </a:r>
            <a:endParaRPr lang="he-IL" dirty="0"/>
          </a:p>
        </p:txBody>
      </p:sp>
      <p:sp>
        <p:nvSpPr>
          <p:cNvPr id="4" name="תיבת טקסט 3">
            <a:extLst>
              <a:ext uri="{FF2B5EF4-FFF2-40B4-BE49-F238E27FC236}">
                <a16:creationId xmlns:a16="http://schemas.microsoft.com/office/drawing/2014/main" id="{D285EE3E-82FE-5D00-E1B3-0DE36D5AD99A}"/>
              </a:ext>
            </a:extLst>
          </p:cNvPr>
          <p:cNvSpPr txBox="1"/>
          <p:nvPr/>
        </p:nvSpPr>
        <p:spPr>
          <a:xfrm>
            <a:off x="2536371" y="2401277"/>
            <a:ext cx="4572000" cy="3416320"/>
          </a:xfrm>
          <a:prstGeom prst="rect">
            <a:avLst/>
          </a:prstGeom>
          <a:noFill/>
        </p:spPr>
        <p:txBody>
          <a:bodyPr wrap="square">
            <a:spAutoFit/>
          </a:bodyPr>
          <a:lstStyle/>
          <a:p>
            <a:r>
              <a:rPr lang="ar-SA" sz="3600" dirty="0"/>
              <a:t>1-جذب المتطوع.</a:t>
            </a:r>
          </a:p>
          <a:p>
            <a:r>
              <a:rPr lang="ar-SA" sz="3600" dirty="0"/>
              <a:t> 2 -المقابلة والتعيين.</a:t>
            </a:r>
          </a:p>
          <a:p>
            <a:r>
              <a:rPr lang="ar-SA" sz="3600" dirty="0"/>
              <a:t> 3 -التوجيه والتعريف.</a:t>
            </a:r>
          </a:p>
          <a:p>
            <a:r>
              <a:rPr lang="ar-SA" sz="3600" dirty="0"/>
              <a:t> 4 -التدريب.</a:t>
            </a:r>
          </a:p>
          <a:p>
            <a:r>
              <a:rPr lang="ar-SA" sz="3600" dirty="0"/>
              <a:t> 5 -المتابعة والتقييم. </a:t>
            </a:r>
          </a:p>
          <a:p>
            <a:r>
              <a:rPr lang="ar-SA" sz="3600" dirty="0"/>
              <a:t>6 -التقدير </a:t>
            </a:r>
            <a:endParaRPr lang="he-IL" sz="3600" dirty="0"/>
          </a:p>
        </p:txBody>
      </p:sp>
    </p:spTree>
    <p:extLst>
      <p:ext uri="{BB962C8B-B14F-4D97-AF65-F5344CB8AC3E}">
        <p14:creationId xmlns:p14="http://schemas.microsoft.com/office/powerpoint/2010/main" val="1450369988"/>
      </p:ext>
    </p:extLst>
  </p:cSld>
  <p:clrMapOvr>
    <a:masterClrMapping/>
  </p:clrMapOvr>
  <p:transition spd="med">
    <p:fade/>
  </p:transition>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TotalTime>
  <Words>567</Words>
  <Application>Microsoft Office PowerPoint</Application>
  <PresentationFormat>‫הצגה על המסך (4:3)</PresentationFormat>
  <Paragraphs>49</Paragraphs>
  <Slides>11</Slides>
  <Notes>1</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11</vt:i4>
      </vt:variant>
    </vt:vector>
  </HeadingPairs>
  <TitlesOfParts>
    <vt:vector size="18" baseType="lpstr">
      <vt:lpstr>Arial</vt:lpstr>
      <vt:lpstr>Calibri</vt:lpstr>
      <vt:lpstr>Gisha</vt:lpstr>
      <vt:lpstr>Guttman Yad-Brush</vt:lpstr>
      <vt:lpstr>Lato</vt:lpstr>
      <vt:lpstr>Times New Roman</vt:lpstr>
      <vt:lpstr>ערכת נושא Office</vt:lpstr>
      <vt:lpstr>      פיתוח מעורבות חברתית והתנדבות  התנדבות ומעורבות חברתית ככלי לצמיחה אישית       </vt:lpstr>
      <vt:lpstr>التطوع</vt:lpstr>
      <vt:lpstr>أنواع التطوع</vt:lpstr>
      <vt:lpstr>فوائد التطوع للهيئات والمؤسسات المحلية:</vt:lpstr>
      <vt:lpstr>فوائد التطوع على المتطوع خاصة النشء والشباب:</vt:lpstr>
      <vt:lpstr>أسئلة للمتطوع؟ أسئلة للمؤسسات؟</vt:lpstr>
      <vt:lpstr>أي اطر تطوعيه تعرفون؟ ما مميزات الأطر التطوعية بالبلاد؟ هل تطوعت بالسابق او هل تطوع اليوم؟</vt:lpstr>
      <vt:lpstr>اهميه التطوع بجيل مبكر</vt:lpstr>
      <vt:lpstr>عمل بمجموعات</vt:lpstr>
      <vt:lpstr>التحديات التي تواجه العمل التطوعي</vt:lpstr>
      <vt:lpstr>مراحل لبناء برنامج تطوعي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פיתוח מעורבות חברתית והתנדבות  התנדבות ומעורבות חברתית ככלי לצמיחה אישית</dc:title>
  <dc:creator>amira kasem</dc:creator>
  <cp:lastModifiedBy>amira kasem</cp:lastModifiedBy>
  <cp:revision>8</cp:revision>
  <dcterms:modified xsi:type="dcterms:W3CDTF">2023-04-10T08:32:16Z</dcterms:modified>
</cp:coreProperties>
</file>
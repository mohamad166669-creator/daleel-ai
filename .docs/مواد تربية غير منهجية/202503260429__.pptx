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8288000" cy="10287000"/>
  <p:notesSz cx="10287000" cy="18288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0" y="0"/>
            <a:ext cx="18288000" cy="10287000"/>
          </a:xfrm>
          <a:prstGeom prst="rect">
            <a:avLst/>
          </a:prstGeom>
        </p:spPr>
      </p:pic>
      <p:pic>
        <p:nvPicPr>
          <p:cNvPr id="3" name="Image 1" descr="preencoded.png">    </p:cNvPr>
          <p:cNvPicPr>
            <a:picLocks noChangeAspect="1"/>
          </p:cNvPicPr>
          <p:nvPr/>
        </p:nvPicPr>
        <p:blipFill>
          <a:blip r:embed="rId3"/>
          <a:stretch>
            <a:fillRect/>
          </a:stretch>
        </p:blipFill>
        <p:spPr>
          <a:xfrm>
            <a:off x="0" y="0"/>
            <a:ext cx="18288000" cy="10287000"/>
          </a:xfrm>
          <a:prstGeom prst="rect">
            <a:avLst/>
          </a:prstGeom>
        </p:spPr>
      </p:pic>
      <p:sp>
        <p:nvSpPr>
          <p:cNvPr id="4" name="Text 0"/>
          <p:cNvSpPr/>
          <p:nvPr/>
        </p:nvSpPr>
        <p:spPr>
          <a:xfrm>
            <a:off x="1146667" y="8763328"/>
            <a:ext cx="4191000" cy="438150"/>
          </a:xfrm>
          <a:prstGeom prst="rect">
            <a:avLst/>
          </a:prstGeom>
          <a:noFill/>
          <a:ln/>
        </p:spPr>
        <p:txBody>
          <a:bodyPr wrap="square" rtlCol="0" anchor="ctr"/>
          <a:lstStyle/>
          <a:p>
            <a:pPr algn="l" indent="0" marL="0">
              <a:lnSpc>
                <a:spcPts val="3375"/>
              </a:lnSpc>
              <a:buNone/>
            </a:pPr>
            <a:r>
              <a:rPr lang="en-US" sz="2250" dirty="0">
                <a:solidFill>
                  <a:srgbClr val="FFFFFF"/>
                </a:solidFill>
                <a:latin typeface="Roboto" pitchFamily="34" charset="0"/>
                <a:ea typeface="Roboto" pitchFamily="34" charset="-122"/>
                <a:cs typeface="Roboto" pitchFamily="34" charset="-120"/>
              </a:rPr>
              <a:t>doaa mokary</a:t>
            </a:r>
            <a:endParaRPr lang="en-US" sz="2250" dirty="0"/>
          </a:p>
        </p:txBody>
      </p:sp>
      <p:sp>
        <p:nvSpPr>
          <p:cNvPr id="5" name="Text 1"/>
          <p:cNvSpPr/>
          <p:nvPr/>
        </p:nvSpPr>
        <p:spPr>
          <a:xfrm>
            <a:off x="6477000" y="8763328"/>
            <a:ext cx="4191000" cy="438150"/>
          </a:xfrm>
          <a:prstGeom prst="rect">
            <a:avLst/>
          </a:prstGeom>
          <a:noFill/>
          <a:ln/>
        </p:spPr>
        <p:txBody>
          <a:bodyPr wrap="square" rtlCol="0" anchor="ctr"/>
          <a:lstStyle/>
          <a:p>
            <a:pPr algn="l" indent="0" marL="0">
              <a:lnSpc>
                <a:spcPts val="3375"/>
              </a:lnSpc>
              <a:buNone/>
            </a:pPr>
            <a:r>
              <a:rPr lang="en-US" sz="2250" dirty="0">
                <a:solidFill>
                  <a:srgbClr val="FFFFFF"/>
                </a:solidFill>
                <a:latin typeface="Roboto" pitchFamily="34" charset="0"/>
                <a:ea typeface="Roboto" pitchFamily="34" charset="-122"/>
                <a:cs typeface="Roboto" pitchFamily="34" charset="-120"/>
              </a:rPr>
              <a:t>doaa.037@gmail.com</a:t>
            </a:r>
            <a:endParaRPr lang="en-US" sz="2250" dirty="0"/>
          </a:p>
        </p:txBody>
      </p:sp>
      <p:sp>
        <p:nvSpPr>
          <p:cNvPr id="6" name="Text 2"/>
          <p:cNvSpPr/>
          <p:nvPr/>
        </p:nvSpPr>
        <p:spPr>
          <a:xfrm>
            <a:off x="12954194" y="8763328"/>
            <a:ext cx="4191000" cy="438150"/>
          </a:xfrm>
          <a:prstGeom prst="rect">
            <a:avLst/>
          </a:prstGeom>
          <a:noFill/>
          <a:ln/>
        </p:spPr>
        <p:txBody>
          <a:bodyPr wrap="square" rtlCol="0" anchor="ctr"/>
          <a:lstStyle/>
          <a:p>
            <a:pPr algn="l" indent="0" marL="0">
              <a:lnSpc>
                <a:spcPts val="3375"/>
              </a:lnSpc>
              <a:buNone/>
            </a:pPr>
            <a:r>
              <a:rPr lang="en-US" sz="2250" dirty="0">
                <a:solidFill>
                  <a:srgbClr val="FFFFFF"/>
                </a:solidFill>
                <a:latin typeface="Roboto" pitchFamily="34" charset="0"/>
                <a:ea typeface="Roboto" pitchFamily="34" charset="-122"/>
                <a:cs typeface="Roboto" pitchFamily="34" charset="-120"/>
              </a:rPr>
              <a:t>مارس 2025</a:t>
            </a:r>
            <a:endParaRPr lang="en-US" sz="2250" dirty="0"/>
          </a:p>
        </p:txBody>
      </p:sp>
      <p:sp>
        <p:nvSpPr>
          <p:cNvPr id="7" name="Text 3"/>
          <p:cNvSpPr/>
          <p:nvPr/>
        </p:nvSpPr>
        <p:spPr>
          <a:xfrm>
            <a:off x="1146667" y="8044393"/>
            <a:ext cx="4191000" cy="581025"/>
          </a:xfrm>
          <a:prstGeom prst="rect">
            <a:avLst/>
          </a:prstGeom>
          <a:noFill/>
          <a:ln/>
        </p:spPr>
        <p:txBody>
          <a:bodyPr wrap="square" rtlCol="0" anchor="ctr"/>
          <a:lstStyle/>
          <a:p>
            <a:pPr algn="l" indent="0" marL="0">
              <a:lnSpc>
                <a:spcPts val="4500"/>
              </a:lnSpc>
              <a:buNone/>
            </a:pPr>
            <a:r>
              <a:rPr lang="en-US" sz="3000" dirty="0">
                <a:solidFill>
                  <a:srgbClr val="FFFFFF"/>
                </a:solidFill>
                <a:latin typeface="Roboto" pitchFamily="34" charset="0"/>
                <a:ea typeface="Roboto" pitchFamily="34" charset="-122"/>
                <a:cs typeface="Roboto" pitchFamily="34" charset="-120"/>
              </a:rPr>
              <a:t>إعداد بواسطة</a:t>
            </a:r>
            <a:endParaRPr lang="en-US" sz="3000" dirty="0"/>
          </a:p>
        </p:txBody>
      </p:sp>
      <p:sp>
        <p:nvSpPr>
          <p:cNvPr id="8" name="Text 4"/>
          <p:cNvSpPr/>
          <p:nvPr/>
        </p:nvSpPr>
        <p:spPr>
          <a:xfrm>
            <a:off x="6477000" y="8044393"/>
            <a:ext cx="4191000" cy="581025"/>
          </a:xfrm>
          <a:prstGeom prst="rect">
            <a:avLst/>
          </a:prstGeom>
          <a:noFill/>
          <a:ln/>
        </p:spPr>
        <p:txBody>
          <a:bodyPr wrap="square" rtlCol="0" anchor="ctr"/>
          <a:lstStyle/>
          <a:p>
            <a:pPr algn="l" indent="0" marL="0">
              <a:lnSpc>
                <a:spcPts val="4500"/>
              </a:lnSpc>
              <a:buNone/>
            </a:pPr>
            <a:r>
              <a:rPr lang="en-US" sz="3000" dirty="0">
                <a:solidFill>
                  <a:srgbClr val="FFFFFF"/>
                </a:solidFill>
                <a:latin typeface="Roboto" pitchFamily="34" charset="0"/>
                <a:ea typeface="Roboto" pitchFamily="34" charset="-122"/>
                <a:cs typeface="Roboto" pitchFamily="34" charset="-120"/>
              </a:rPr>
              <a:t>اتصال</a:t>
            </a:r>
            <a:endParaRPr lang="en-US" sz="3000" dirty="0"/>
          </a:p>
        </p:txBody>
      </p:sp>
      <p:sp>
        <p:nvSpPr>
          <p:cNvPr id="9" name="Text 5"/>
          <p:cNvSpPr/>
          <p:nvPr/>
        </p:nvSpPr>
        <p:spPr>
          <a:xfrm>
            <a:off x="12954194" y="8044393"/>
            <a:ext cx="4191000" cy="581025"/>
          </a:xfrm>
          <a:prstGeom prst="rect">
            <a:avLst/>
          </a:prstGeom>
          <a:noFill/>
          <a:ln/>
        </p:spPr>
        <p:txBody>
          <a:bodyPr wrap="square" rtlCol="0" anchor="ctr"/>
          <a:lstStyle/>
          <a:p>
            <a:pPr algn="l" indent="0" marL="0">
              <a:lnSpc>
                <a:spcPts val="4500"/>
              </a:lnSpc>
              <a:buNone/>
            </a:pPr>
            <a:r>
              <a:rPr lang="en-US" sz="3000" dirty="0">
                <a:solidFill>
                  <a:srgbClr val="FFFFFF"/>
                </a:solidFill>
                <a:latin typeface="Roboto" pitchFamily="34" charset="0"/>
                <a:ea typeface="Roboto" pitchFamily="34" charset="-122"/>
                <a:cs typeface="Roboto" pitchFamily="34" charset="-120"/>
              </a:rPr>
              <a:t>تاريخ</a:t>
            </a:r>
            <a:endParaRPr lang="en-US" sz="3000" dirty="0"/>
          </a:p>
        </p:txBody>
      </p:sp>
      <p:sp>
        <p:nvSpPr>
          <p:cNvPr id="10" name="Shape 6"/>
          <p:cNvSpPr/>
          <p:nvPr/>
        </p:nvSpPr>
        <p:spPr>
          <a:xfrm>
            <a:off x="1143000" y="7667625"/>
            <a:ext cx="16001843" cy="0"/>
          </a:xfrm>
          <a:prstGeom prst="line">
            <a:avLst/>
          </a:prstGeom>
          <a:noFill/>
          <a:ln w="38100">
            <a:solidFill>
              <a:srgbClr val="FFFFFF"/>
            </a:solidFill>
            <a:prstDash val="solid"/>
            <a:headEnd type="none"/>
            <a:tailEnd type="none"/>
          </a:ln>
        </p:spPr>
      </p:sp>
      <p:sp>
        <p:nvSpPr>
          <p:cNvPr id="11" name="Text 7"/>
          <p:cNvSpPr/>
          <p:nvPr/>
        </p:nvSpPr>
        <p:spPr>
          <a:xfrm>
            <a:off x="1143000" y="4500562"/>
            <a:ext cx="16002000" cy="895350"/>
          </a:xfrm>
          <a:prstGeom prst="rect">
            <a:avLst/>
          </a:prstGeom>
          <a:noFill/>
          <a:ln/>
        </p:spPr>
        <p:txBody>
          <a:bodyPr wrap="square" rtlCol="0" anchor="ctr"/>
          <a:lstStyle/>
          <a:p>
            <a:pPr algn="l" indent="0" marL="0">
              <a:lnSpc>
                <a:spcPts val="6922"/>
              </a:lnSpc>
              <a:buNone/>
            </a:pPr>
            <a:r>
              <a:rPr lang="en-US" sz="5325" dirty="0">
                <a:solidFill>
                  <a:srgbClr val="FFFFFF"/>
                </a:solidFill>
                <a:latin typeface="Roboto" pitchFamily="34" charset="0"/>
                <a:ea typeface="Roboto" pitchFamily="34" charset="-122"/>
                <a:cs typeface="Roboto" pitchFamily="34" charset="-120"/>
              </a:rPr>
              <a:t>قصص عن التداخل الاجتماعي</a:t>
            </a:r>
            <a:endParaRPr lang="en-US" sz="5325" dirty="0"/>
          </a:p>
        </p:txBody>
      </p:sp>
      <p:pic>
        <p:nvPicPr>
          <p:cNvPr id="12" name="Image 2" descr="preencoded.png">    </p:cNvPr>
          <p:cNvPicPr>
            <a:picLocks noChangeAspect="1"/>
          </p:cNvPicPr>
          <p:nvPr/>
        </p:nvPicPr>
        <p:blipFill>
          <a:blip r:embed="rId4"/>
          <a:stretch>
            <a:fillRect/>
          </a:stretch>
        </p:blipFill>
        <p:spPr>
          <a:xfrm>
            <a:off x="1143000" y="2876550"/>
            <a:ext cx="1143000" cy="1143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71500" y="571500"/>
            <a:ext cx="8553450" cy="9144000"/>
          </a:xfrm>
          <a:prstGeom prst="rect">
            <a:avLst/>
          </a:prstGeom>
        </p:spPr>
      </p:pic>
      <p:pic>
        <p:nvPicPr>
          <p:cNvPr id="3" name="Image 1" descr="preencoded.png">    </p:cNvPr>
          <p:cNvPicPr>
            <a:picLocks noChangeAspect="1"/>
          </p:cNvPicPr>
          <p:nvPr/>
        </p:nvPicPr>
        <p:blipFill>
          <a:blip r:embed="rId3"/>
          <a:stretch>
            <a:fillRect/>
          </a:stretch>
        </p:blipFill>
        <p:spPr>
          <a:xfrm>
            <a:off x="9696450" y="571500"/>
            <a:ext cx="8020050" cy="9144000"/>
          </a:xfrm>
          <a:prstGeom prst="rect">
            <a:avLst/>
          </a:prstGeom>
        </p:spPr>
      </p:pic>
      <p:sp>
        <p:nvSpPr>
          <p:cNvPr id="4" name="Text 0"/>
          <p:cNvSpPr/>
          <p:nvPr/>
        </p:nvSpPr>
        <p:spPr>
          <a:xfrm>
            <a:off x="10147599" y="1030026"/>
            <a:ext cx="7105650" cy="666750"/>
          </a:xfrm>
          <a:prstGeom prst="rect">
            <a:avLst/>
          </a:prstGeom>
          <a:noFill/>
          <a:ln/>
        </p:spPr>
        <p:txBody>
          <a:bodyPr wrap="square" rtlCol="0" anchor="ctr"/>
          <a:lstStyle/>
          <a:p>
            <a:pPr algn="l" indent="0" marL="0">
              <a:lnSpc>
                <a:spcPts val="5168"/>
              </a:lnSpc>
              <a:buNone/>
            </a:pPr>
            <a:r>
              <a:rPr lang="en-US" sz="3975" dirty="0">
                <a:solidFill>
                  <a:srgbClr val="FFFFFF"/>
                </a:solidFill>
                <a:latin typeface="Roboto" pitchFamily="34" charset="0"/>
                <a:ea typeface="Roboto" pitchFamily="34" charset="-122"/>
                <a:cs typeface="Roboto" pitchFamily="34" charset="-120"/>
              </a:rPr>
              <a:t>مكتبة الدرج</a:t>
            </a:r>
            <a:endParaRPr lang="en-US" sz="3975" dirty="0"/>
          </a:p>
        </p:txBody>
      </p:sp>
      <p:sp>
        <p:nvSpPr>
          <p:cNvPr id="5" name="Text 1"/>
          <p:cNvSpPr/>
          <p:nvPr/>
        </p:nvSpPr>
        <p:spPr>
          <a:xfrm>
            <a:off x="10147599" y="1925376"/>
            <a:ext cx="7105650" cy="1295400"/>
          </a:xfrm>
          <a:prstGeom prst="rect">
            <a:avLst/>
          </a:prstGeom>
          <a:noFill/>
          <a:ln/>
        </p:spPr>
        <p:txBody>
          <a:bodyPr wrap="square" rtlCol="0" anchor="ctr"/>
          <a:lstStyle/>
          <a:p>
            <a:pPr algn="l" indent="0" marL="0">
              <a:lnSpc>
                <a:spcPts val="3375"/>
              </a:lnSpc>
              <a:buNone/>
            </a:pPr>
            <a:r>
              <a:rPr lang="en-US" sz="2250" dirty="0">
                <a:solidFill>
                  <a:srgbClr val="FFFFFF"/>
                </a:solidFill>
                <a:latin typeface="Roboto" pitchFamily="34" charset="0"/>
                <a:ea typeface="Roboto" pitchFamily="34" charset="-122"/>
                <a:cs typeface="Roboto" pitchFamily="34" charset="-120"/>
              </a:rPr>
              <a:t>في حي قديم، حولت طالبة جامعية تُدعى رُلى درجًا مهجورًا إلى مكتبة مفتوحة. جمعت الأصدقاء لتنظيف المكان، وطلبوا من الناس التبرع بكتب. أصبحت المكتبة رمزًا للتواصل والتعلم في المجتمع.</a:t>
            </a:r>
            <a:endParaRPr lang="en-US" sz="2250" dirty="0"/>
          </a:p>
        </p:txBody>
      </p:sp>
      <p:sp>
        <p:nvSpPr>
          <p:cNvPr id="6" name="Text 2"/>
          <p:cNvSpPr/>
          <p:nvPr/>
        </p:nvSpPr>
        <p:spPr>
          <a:xfrm>
            <a:off x="10147599" y="5144826"/>
            <a:ext cx="7105650" cy="866775"/>
          </a:xfrm>
          <a:prstGeom prst="rect">
            <a:avLst/>
          </a:prstGeom>
          <a:noFill/>
          <a:ln/>
        </p:spPr>
        <p:txBody>
          <a:bodyPr wrap="square" rtlCol="0" anchor="ctr"/>
          <a:lstStyle/>
          <a:p>
            <a:pPr algn="l" indent="0" marL="0">
              <a:lnSpc>
                <a:spcPts val="3375"/>
              </a:lnSpc>
              <a:buNone/>
            </a:pPr>
            <a:r>
              <a:rPr lang="en-US" sz="2250" dirty="0">
                <a:solidFill>
                  <a:srgbClr val="FFFFFF"/>
                </a:solidFill>
                <a:latin typeface="Roboto" pitchFamily="34" charset="0"/>
                <a:ea typeface="Roboto" pitchFamily="34" charset="-122"/>
                <a:cs typeface="Roboto" pitchFamily="34" charset="-120"/>
              </a:rPr>
              <a:t>هذا المشروع لا يعزز فقط المعرفة، بل يساهم أيضًا في بناء علاقات اجتماعية قوية بين الأفراد في المجتمع.</a:t>
            </a:r>
            <a:endParaRPr lang="en-US" sz="2250" dirty="0"/>
          </a:p>
        </p:txBody>
      </p:sp>
      <p:sp>
        <p:nvSpPr>
          <p:cNvPr id="7" name="Text 3"/>
          <p:cNvSpPr/>
          <p:nvPr/>
        </p:nvSpPr>
        <p:spPr>
          <a:xfrm>
            <a:off x="10147599" y="4335201"/>
            <a:ext cx="7105650" cy="581025"/>
          </a:xfrm>
          <a:prstGeom prst="rect">
            <a:avLst/>
          </a:prstGeom>
          <a:noFill/>
          <a:ln/>
        </p:spPr>
        <p:txBody>
          <a:bodyPr wrap="square" rtlCol="0" anchor="ctr"/>
          <a:lstStyle/>
          <a:p>
            <a:pPr algn="l" indent="0" marL="0">
              <a:lnSpc>
                <a:spcPts val="4500"/>
              </a:lnSpc>
              <a:buNone/>
            </a:pPr>
            <a:r>
              <a:rPr lang="en-US" sz="3000" dirty="0">
                <a:solidFill>
                  <a:srgbClr val="FFFFFF"/>
                </a:solidFill>
                <a:latin typeface="Roboto" pitchFamily="34" charset="0"/>
                <a:ea typeface="Roboto" pitchFamily="34" charset="-122"/>
                <a:cs typeface="Roboto" pitchFamily="34" charset="-120"/>
              </a:rPr>
              <a:t>التواصل والتعلم</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71500" y="571500"/>
            <a:ext cx="8553450" cy="9144000"/>
          </a:xfrm>
          <a:prstGeom prst="rect">
            <a:avLst/>
          </a:prstGeom>
        </p:spPr>
      </p:pic>
      <p:pic>
        <p:nvPicPr>
          <p:cNvPr id="3" name="Image 1" descr="preencoded.png">    </p:cNvPr>
          <p:cNvPicPr>
            <a:picLocks noChangeAspect="1"/>
          </p:cNvPicPr>
          <p:nvPr/>
        </p:nvPicPr>
        <p:blipFill>
          <a:blip r:embed="rId3"/>
          <a:stretch>
            <a:fillRect/>
          </a:stretch>
        </p:blipFill>
        <p:spPr>
          <a:xfrm>
            <a:off x="9696450" y="571500"/>
            <a:ext cx="8020050" cy="9144000"/>
          </a:xfrm>
          <a:prstGeom prst="rect">
            <a:avLst/>
          </a:prstGeom>
        </p:spPr>
      </p:pic>
      <p:sp>
        <p:nvSpPr>
          <p:cNvPr id="4" name="Text 0"/>
          <p:cNvSpPr/>
          <p:nvPr/>
        </p:nvSpPr>
        <p:spPr>
          <a:xfrm>
            <a:off x="10147599" y="1030026"/>
            <a:ext cx="7105650" cy="666750"/>
          </a:xfrm>
          <a:prstGeom prst="rect">
            <a:avLst/>
          </a:prstGeom>
          <a:noFill/>
          <a:ln/>
        </p:spPr>
        <p:txBody>
          <a:bodyPr wrap="square" rtlCol="0" anchor="ctr"/>
          <a:lstStyle/>
          <a:p>
            <a:pPr algn="l" indent="0" marL="0">
              <a:lnSpc>
                <a:spcPts val="5168"/>
              </a:lnSpc>
              <a:buNone/>
            </a:pPr>
            <a:r>
              <a:rPr lang="en-US" sz="3975" dirty="0">
                <a:solidFill>
                  <a:srgbClr val="FFFFFF"/>
                </a:solidFill>
                <a:latin typeface="Roboto" pitchFamily="34" charset="0"/>
                <a:ea typeface="Roboto" pitchFamily="34" charset="-122"/>
                <a:cs typeface="Roboto" pitchFamily="34" charset="-120"/>
              </a:rPr>
              <a:t>رقيّة والجدات: صوت من لا صوت له</a:t>
            </a:r>
            <a:endParaRPr lang="en-US" sz="3975" dirty="0"/>
          </a:p>
        </p:txBody>
      </p:sp>
      <p:sp>
        <p:nvSpPr>
          <p:cNvPr id="5" name="Text 1"/>
          <p:cNvSpPr/>
          <p:nvPr/>
        </p:nvSpPr>
        <p:spPr>
          <a:xfrm>
            <a:off x="10147599" y="1925376"/>
            <a:ext cx="7105650" cy="1724025"/>
          </a:xfrm>
          <a:prstGeom prst="rect">
            <a:avLst/>
          </a:prstGeom>
          <a:noFill/>
          <a:ln/>
        </p:spPr>
        <p:txBody>
          <a:bodyPr wrap="square" rtlCol="0" anchor="ctr"/>
          <a:lstStyle/>
          <a:p>
            <a:pPr algn="l" indent="0" marL="0">
              <a:lnSpc>
                <a:spcPts val="3375"/>
              </a:lnSpc>
              <a:buNone/>
            </a:pPr>
            <a:r>
              <a:rPr lang="en-US" sz="2250" dirty="0">
                <a:solidFill>
                  <a:srgbClr val="FFFFFF"/>
                </a:solidFill>
                <a:latin typeface="Roboto" pitchFamily="34" charset="0"/>
                <a:ea typeface="Roboto" pitchFamily="34" charset="-122"/>
                <a:cs typeface="Roboto" pitchFamily="34" charset="-120"/>
              </a:rPr>
              <a:t>رقيّة، طالبة خدمة اجتماعية، أطلقت مبادرة "احكيلي" في دار للمسنين لتسجيل قصص الجدات. هذه المبادرة تهدف إلى منح الجدات الفرصة لمشاركة تجاربهن، مما يعزز التواصل بين الأجيال ويعطي صوتًا لمن لا صوت له.</a:t>
            </a:r>
            <a:endParaRPr lang="en-US" sz="2250" dirty="0"/>
          </a:p>
        </p:txBody>
      </p:sp>
      <p:sp>
        <p:nvSpPr>
          <p:cNvPr id="6" name="Text 2"/>
          <p:cNvSpPr/>
          <p:nvPr/>
        </p:nvSpPr>
        <p:spPr>
          <a:xfrm>
            <a:off x="10147599" y="5573451"/>
            <a:ext cx="7105650" cy="1295400"/>
          </a:xfrm>
          <a:prstGeom prst="rect">
            <a:avLst/>
          </a:prstGeom>
          <a:noFill/>
          <a:ln/>
        </p:spPr>
        <p:txBody>
          <a:bodyPr wrap="square" rtlCol="0" anchor="ctr"/>
          <a:lstStyle/>
          <a:p>
            <a:pPr algn="l" indent="0" marL="0">
              <a:lnSpc>
                <a:spcPts val="3375"/>
              </a:lnSpc>
              <a:buNone/>
            </a:pPr>
            <a:r>
              <a:rPr lang="en-US" sz="2250" dirty="0">
                <a:solidFill>
                  <a:srgbClr val="FFFFFF"/>
                </a:solidFill>
                <a:latin typeface="Roboto" pitchFamily="34" charset="0"/>
                <a:ea typeface="Roboto" pitchFamily="34" charset="-122"/>
                <a:cs typeface="Roboto" pitchFamily="34" charset="-120"/>
              </a:rPr>
              <a:t>بعد 6 أشهر من العمل، تم إصدار كُتيب بعنوان "جدتي تحكي لي"، الذي يحتوي على قصص ملهمة تعكس تجارب الحياة الغنية ويتضمن أصوات الجدات التي تحتاج إلى أن تُسمع.</a:t>
            </a:r>
            <a:endParaRPr lang="en-US" sz="2250" dirty="0"/>
          </a:p>
        </p:txBody>
      </p:sp>
      <p:sp>
        <p:nvSpPr>
          <p:cNvPr id="7" name="Text 3"/>
          <p:cNvSpPr/>
          <p:nvPr/>
        </p:nvSpPr>
        <p:spPr>
          <a:xfrm>
            <a:off x="10147599" y="4763826"/>
            <a:ext cx="7105650" cy="581025"/>
          </a:xfrm>
          <a:prstGeom prst="rect">
            <a:avLst/>
          </a:prstGeom>
          <a:noFill/>
          <a:ln/>
        </p:spPr>
        <p:txBody>
          <a:bodyPr wrap="square" rtlCol="0" anchor="ctr"/>
          <a:lstStyle/>
          <a:p>
            <a:pPr algn="l" indent="0" marL="0">
              <a:lnSpc>
                <a:spcPts val="4500"/>
              </a:lnSpc>
              <a:buNone/>
            </a:pPr>
            <a:r>
              <a:rPr lang="en-US" sz="3000" dirty="0">
                <a:solidFill>
                  <a:srgbClr val="FFFFFF"/>
                </a:solidFill>
                <a:latin typeface="Roboto" pitchFamily="34" charset="0"/>
                <a:ea typeface="Roboto" pitchFamily="34" charset="-122"/>
                <a:cs typeface="Roboto" pitchFamily="34" charset="-120"/>
              </a:rPr>
              <a:t>قوة السرد</a:t>
            </a:r>
            <a:endParaRPr lang="en-US"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71500" y="571500"/>
            <a:ext cx="8553450" cy="9144000"/>
          </a:xfrm>
          <a:prstGeom prst="rect">
            <a:avLst/>
          </a:prstGeom>
        </p:spPr>
      </p:pic>
      <p:pic>
        <p:nvPicPr>
          <p:cNvPr id="3" name="Image 1" descr="preencoded.png">    </p:cNvPr>
          <p:cNvPicPr>
            <a:picLocks noChangeAspect="1"/>
          </p:cNvPicPr>
          <p:nvPr/>
        </p:nvPicPr>
        <p:blipFill>
          <a:blip r:embed="rId3"/>
          <a:stretch>
            <a:fillRect/>
          </a:stretch>
        </p:blipFill>
        <p:spPr>
          <a:xfrm>
            <a:off x="9696450" y="571500"/>
            <a:ext cx="8020050" cy="9144000"/>
          </a:xfrm>
          <a:prstGeom prst="rect">
            <a:avLst/>
          </a:prstGeom>
        </p:spPr>
      </p:pic>
      <p:sp>
        <p:nvSpPr>
          <p:cNvPr id="4" name="Text 0"/>
          <p:cNvSpPr/>
          <p:nvPr/>
        </p:nvSpPr>
        <p:spPr>
          <a:xfrm>
            <a:off x="10147599" y="1030026"/>
            <a:ext cx="7105650" cy="666750"/>
          </a:xfrm>
          <a:prstGeom prst="rect">
            <a:avLst/>
          </a:prstGeom>
          <a:noFill/>
          <a:ln/>
        </p:spPr>
        <p:txBody>
          <a:bodyPr wrap="square" rtlCol="0" anchor="ctr"/>
          <a:lstStyle/>
          <a:p>
            <a:pPr algn="l" indent="0" marL="0">
              <a:lnSpc>
                <a:spcPts val="5168"/>
              </a:lnSpc>
              <a:buNone/>
            </a:pPr>
            <a:r>
              <a:rPr lang="en-US" sz="3975" dirty="0">
                <a:solidFill>
                  <a:srgbClr val="FFFFFF"/>
                </a:solidFill>
                <a:latin typeface="Roboto" pitchFamily="34" charset="0"/>
                <a:ea typeface="Roboto" pitchFamily="34" charset="-122"/>
                <a:cs typeface="Roboto" pitchFamily="34" charset="-120"/>
              </a:rPr>
              <a:t>ساحة الحي: من المهمل إلى الحيوي</a:t>
            </a:r>
            <a:endParaRPr lang="en-US" sz="3975" dirty="0"/>
          </a:p>
        </p:txBody>
      </p:sp>
      <p:sp>
        <p:nvSpPr>
          <p:cNvPr id="5" name="Text 1"/>
          <p:cNvSpPr/>
          <p:nvPr/>
        </p:nvSpPr>
        <p:spPr>
          <a:xfrm>
            <a:off x="10147599" y="1925376"/>
            <a:ext cx="7105650" cy="1295400"/>
          </a:xfrm>
          <a:prstGeom prst="rect">
            <a:avLst/>
          </a:prstGeom>
          <a:noFill/>
          <a:ln/>
        </p:spPr>
        <p:txBody>
          <a:bodyPr wrap="square" rtlCol="0" anchor="ctr"/>
          <a:lstStyle/>
          <a:p>
            <a:pPr algn="l" indent="0" marL="0">
              <a:lnSpc>
                <a:spcPts val="3375"/>
              </a:lnSpc>
              <a:buNone/>
            </a:pPr>
            <a:r>
              <a:rPr lang="en-US" sz="2250" dirty="0">
                <a:solidFill>
                  <a:srgbClr val="FFFFFF"/>
                </a:solidFill>
                <a:latin typeface="Roboto" pitchFamily="34" charset="0"/>
                <a:ea typeface="Roboto" pitchFamily="34" charset="-122"/>
                <a:cs typeface="Roboto" pitchFamily="34" charset="-120"/>
              </a:rPr>
              <a:t>لاحظ مجموعة من الطلاب أن ساحة الحي كانت مهجورة، مما دفعهم لتقديم اقتراح للبلدية لتأهيلها. بعد تحسين الإضاءة، والدهان، وزراعة النباتات، بدأت العائلات في استخدامها، مما جعلها مركزًا اجتماعيًا نابضًا بالحياة.</a:t>
            </a:r>
            <a:endParaRPr lang="en-US" sz="2250" dirty="0"/>
          </a:p>
        </p:txBody>
      </p:sp>
      <p:sp>
        <p:nvSpPr>
          <p:cNvPr id="6" name="Text 2"/>
          <p:cNvSpPr/>
          <p:nvPr/>
        </p:nvSpPr>
        <p:spPr>
          <a:xfrm>
            <a:off x="10147599" y="5144826"/>
            <a:ext cx="7105650" cy="866775"/>
          </a:xfrm>
          <a:prstGeom prst="rect">
            <a:avLst/>
          </a:prstGeom>
          <a:noFill/>
          <a:ln/>
        </p:spPr>
        <p:txBody>
          <a:bodyPr wrap="square" rtlCol="0" anchor="ctr"/>
          <a:lstStyle/>
          <a:p>
            <a:pPr algn="l" indent="0" marL="0">
              <a:lnSpc>
                <a:spcPts val="3375"/>
              </a:lnSpc>
              <a:buNone/>
            </a:pPr>
            <a:r>
              <a:rPr lang="en-US" sz="2250" dirty="0">
                <a:solidFill>
                  <a:srgbClr val="FFFFFF"/>
                </a:solidFill>
                <a:latin typeface="Roboto" pitchFamily="34" charset="0"/>
                <a:ea typeface="Roboto" pitchFamily="34" charset="-122"/>
                <a:cs typeface="Roboto" pitchFamily="34" charset="-120"/>
              </a:rPr>
              <a:t>هذه المبادرة تعكس كيفية تحويل المساحات العامة المهجورة إلى أماكن حيوية تعزز التواصل الاجتماعي وتدعم الروابط بين الأفراد.</a:t>
            </a:r>
            <a:endParaRPr lang="en-US" sz="2250" dirty="0"/>
          </a:p>
        </p:txBody>
      </p:sp>
      <p:sp>
        <p:nvSpPr>
          <p:cNvPr id="7" name="Text 3"/>
          <p:cNvSpPr/>
          <p:nvPr/>
        </p:nvSpPr>
        <p:spPr>
          <a:xfrm>
            <a:off x="10147599" y="4335201"/>
            <a:ext cx="7105650" cy="581025"/>
          </a:xfrm>
          <a:prstGeom prst="rect">
            <a:avLst/>
          </a:prstGeom>
          <a:noFill/>
          <a:ln/>
        </p:spPr>
        <p:txBody>
          <a:bodyPr wrap="square" rtlCol="0" anchor="ctr"/>
          <a:lstStyle/>
          <a:p>
            <a:pPr algn="l" indent="0" marL="0">
              <a:lnSpc>
                <a:spcPts val="4500"/>
              </a:lnSpc>
              <a:buNone/>
            </a:pPr>
            <a:r>
              <a:rPr lang="en-US" sz="3000" dirty="0">
                <a:solidFill>
                  <a:srgbClr val="FFFFFF"/>
                </a:solidFill>
                <a:latin typeface="Roboto" pitchFamily="34" charset="0"/>
                <a:ea typeface="Roboto" pitchFamily="34" charset="-122"/>
                <a:cs typeface="Roboto" pitchFamily="34" charset="-120"/>
              </a:rPr>
              <a:t>تحويل المساحات</a:t>
            </a:r>
            <a:endParaRPr lang="en-US" sz="3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71500" y="571500"/>
            <a:ext cx="8553450" cy="9144000"/>
          </a:xfrm>
          <a:prstGeom prst="rect">
            <a:avLst/>
          </a:prstGeom>
        </p:spPr>
      </p:pic>
      <p:pic>
        <p:nvPicPr>
          <p:cNvPr id="3" name="Image 1" descr="preencoded.png">    </p:cNvPr>
          <p:cNvPicPr>
            <a:picLocks noChangeAspect="1"/>
          </p:cNvPicPr>
          <p:nvPr/>
        </p:nvPicPr>
        <p:blipFill>
          <a:blip r:embed="rId3"/>
          <a:stretch>
            <a:fillRect/>
          </a:stretch>
        </p:blipFill>
        <p:spPr>
          <a:xfrm>
            <a:off x="9696450" y="571500"/>
            <a:ext cx="8020050" cy="9144000"/>
          </a:xfrm>
          <a:prstGeom prst="rect">
            <a:avLst/>
          </a:prstGeom>
        </p:spPr>
      </p:pic>
      <p:sp>
        <p:nvSpPr>
          <p:cNvPr id="4" name="Text 0"/>
          <p:cNvSpPr/>
          <p:nvPr/>
        </p:nvSpPr>
        <p:spPr>
          <a:xfrm>
            <a:off x="10147599" y="1030026"/>
            <a:ext cx="7105650" cy="1323975"/>
          </a:xfrm>
          <a:prstGeom prst="rect">
            <a:avLst/>
          </a:prstGeom>
          <a:noFill/>
          <a:ln/>
        </p:spPr>
        <p:txBody>
          <a:bodyPr wrap="square" rtlCol="0" anchor="ctr"/>
          <a:lstStyle/>
          <a:p>
            <a:pPr algn="l" indent="0" marL="0">
              <a:lnSpc>
                <a:spcPts val="5168"/>
              </a:lnSpc>
              <a:buNone/>
            </a:pPr>
            <a:r>
              <a:rPr lang="en-US" sz="3975" dirty="0">
                <a:solidFill>
                  <a:srgbClr val="FFFFFF"/>
                </a:solidFill>
                <a:latin typeface="Roboto" pitchFamily="34" charset="0"/>
                <a:ea typeface="Roboto" pitchFamily="34" charset="-122"/>
                <a:cs typeface="Roboto" pitchFamily="34" charset="-120"/>
              </a:rPr>
              <a:t>مطبخ أم خليل: من الطهي إلى التغيير</a:t>
            </a:r>
            <a:endParaRPr lang="en-US" sz="3975" dirty="0"/>
          </a:p>
        </p:txBody>
      </p:sp>
      <p:sp>
        <p:nvSpPr>
          <p:cNvPr id="5" name="Text 1"/>
          <p:cNvSpPr/>
          <p:nvPr/>
        </p:nvSpPr>
        <p:spPr>
          <a:xfrm>
            <a:off x="10147599" y="2582601"/>
            <a:ext cx="7105650" cy="1295400"/>
          </a:xfrm>
          <a:prstGeom prst="rect">
            <a:avLst/>
          </a:prstGeom>
          <a:noFill/>
          <a:ln/>
        </p:spPr>
        <p:txBody>
          <a:bodyPr wrap="square" rtlCol="0" anchor="ctr"/>
          <a:lstStyle/>
          <a:p>
            <a:pPr algn="l" indent="0" marL="0">
              <a:lnSpc>
                <a:spcPts val="3375"/>
              </a:lnSpc>
              <a:buNone/>
            </a:pPr>
            <a:r>
              <a:rPr lang="en-US" sz="2250" dirty="0">
                <a:solidFill>
                  <a:srgbClr val="FFFFFF"/>
                </a:solidFill>
                <a:latin typeface="Roboto" pitchFamily="34" charset="0"/>
                <a:ea typeface="Roboto" pitchFamily="34" charset="-122"/>
                <a:cs typeface="Roboto" pitchFamily="34" charset="-120"/>
              </a:rPr>
              <a:t>في حي فقير، بدأت "أم خليل" مشروعها بطهي وجبات للمسنين والعمال. تطور هذا المشروع ليصبح "مطبخ اجتماعي" يقدم الطعام لعشرات الأشخاص ويوفر فرص عمل، مما يعزز روح التضامن بين أفراد المجتمع.</a:t>
            </a:r>
            <a:endParaRPr lang="en-US" sz="2250" dirty="0"/>
          </a:p>
        </p:txBody>
      </p:sp>
      <p:sp>
        <p:nvSpPr>
          <p:cNvPr id="6" name="Text 2"/>
          <p:cNvSpPr/>
          <p:nvPr/>
        </p:nvSpPr>
        <p:spPr>
          <a:xfrm>
            <a:off x="10147599" y="5802051"/>
            <a:ext cx="7105650" cy="1295400"/>
          </a:xfrm>
          <a:prstGeom prst="rect">
            <a:avLst/>
          </a:prstGeom>
          <a:noFill/>
          <a:ln/>
        </p:spPr>
        <p:txBody>
          <a:bodyPr wrap="square" rtlCol="0" anchor="ctr"/>
          <a:lstStyle/>
          <a:p>
            <a:pPr algn="l" indent="0" marL="0">
              <a:lnSpc>
                <a:spcPts val="3375"/>
              </a:lnSpc>
              <a:buNone/>
            </a:pPr>
            <a:r>
              <a:rPr lang="en-US" sz="2250" dirty="0">
                <a:solidFill>
                  <a:srgbClr val="FFFFFF"/>
                </a:solidFill>
                <a:latin typeface="Roboto" pitchFamily="34" charset="0"/>
                <a:ea typeface="Roboto" pitchFamily="34" charset="-122"/>
                <a:cs typeface="Roboto" pitchFamily="34" charset="-120"/>
              </a:rPr>
              <a:t>هذا المشروع لا يقتصر على توفير الطعام فقط، بل يدعم أيضًا الاقتصاد المحلي ويشجع على التفاعل الاجتماعي، مما يساهم في تقوية الروابط بين السكان.</a:t>
            </a:r>
            <a:endParaRPr lang="en-US" sz="2250" dirty="0"/>
          </a:p>
        </p:txBody>
      </p:sp>
      <p:sp>
        <p:nvSpPr>
          <p:cNvPr id="7" name="Text 3"/>
          <p:cNvSpPr/>
          <p:nvPr/>
        </p:nvSpPr>
        <p:spPr>
          <a:xfrm>
            <a:off x="10147599" y="4992426"/>
            <a:ext cx="7105650" cy="581025"/>
          </a:xfrm>
          <a:prstGeom prst="rect">
            <a:avLst/>
          </a:prstGeom>
          <a:noFill/>
          <a:ln/>
        </p:spPr>
        <p:txBody>
          <a:bodyPr wrap="square" rtlCol="0" anchor="ctr"/>
          <a:lstStyle/>
          <a:p>
            <a:pPr algn="l" indent="0" marL="0">
              <a:lnSpc>
                <a:spcPts val="4500"/>
              </a:lnSpc>
              <a:buNone/>
            </a:pPr>
            <a:r>
              <a:rPr lang="en-US" sz="3000" dirty="0">
                <a:solidFill>
                  <a:srgbClr val="FFFFFF"/>
                </a:solidFill>
                <a:latin typeface="Roboto" pitchFamily="34" charset="0"/>
                <a:ea typeface="Roboto" pitchFamily="34" charset="-122"/>
                <a:cs typeface="Roboto" pitchFamily="34" charset="-120"/>
              </a:rPr>
              <a:t>تغيير اجتماعي</a:t>
            </a:r>
            <a:endParaRPr lang="en-US" sz="3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1143000" y="2476500"/>
            <a:ext cx="16002000" cy="6858000"/>
          </a:xfrm>
          <a:prstGeom prst="rect">
            <a:avLst/>
          </a:prstGeom>
        </p:spPr>
      </p:pic>
      <p:sp>
        <p:nvSpPr>
          <p:cNvPr id="3" name="Text 0"/>
          <p:cNvSpPr/>
          <p:nvPr/>
        </p:nvSpPr>
        <p:spPr>
          <a:xfrm>
            <a:off x="1144836" y="1144326"/>
            <a:ext cx="16002000" cy="666750"/>
          </a:xfrm>
          <a:prstGeom prst="rect">
            <a:avLst/>
          </a:prstGeom>
          <a:noFill/>
          <a:ln/>
        </p:spPr>
        <p:txBody>
          <a:bodyPr wrap="square" rtlCol="0" anchor="ctr"/>
          <a:lstStyle/>
          <a:p>
            <a:pPr algn="l" indent="0" marL="0">
              <a:lnSpc>
                <a:spcPts val="5168"/>
              </a:lnSpc>
              <a:buNone/>
            </a:pPr>
            <a:r>
              <a:rPr lang="en-US" sz="3975" dirty="0">
                <a:solidFill>
                  <a:srgbClr val="FFFFFF"/>
                </a:solidFill>
                <a:latin typeface="Roboto" pitchFamily="34" charset="0"/>
                <a:ea typeface="Roboto" pitchFamily="34" charset="-122"/>
                <a:cs typeface="Roboto" pitchFamily="34" charset="-120"/>
              </a:rPr>
              <a:t>شكراً لكم على وقتكم واهتمامكم</a:t>
            </a:r>
            <a:endParaRPr lang="en-US" sz="39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2025-03-26T04:29:54Z</dcterms:created>
  <dcterms:modified xsi:type="dcterms:W3CDTF">2025-03-26T04:29:54Z</dcterms:modified>
</cp:coreProperties>
</file>